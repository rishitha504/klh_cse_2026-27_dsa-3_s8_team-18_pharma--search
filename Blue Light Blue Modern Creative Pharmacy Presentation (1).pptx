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Libra Serif Modern Bold" charset="1" panose="02000803080000020004"/>
      <p:regular r:id="rId13"/>
    </p:embeddedFont>
    <p:embeddedFont>
      <p:font typeface="Libra Serif Modern" charset="1" panose="02000503080000020004"/>
      <p:regular r:id="rId14"/>
    </p:embeddedFont>
    <p:embeddedFont>
      <p:font typeface="Canva Sans" charset="1" panose="020B05030305010401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jpe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5E5FE"/>
        </a:solidFill>
      </p:bgPr>
    </p:bg>
    <p:spTree>
      <p:nvGrpSpPr>
        <p:cNvPr id="1" name=""/>
        <p:cNvGrpSpPr/>
        <p:nvPr/>
      </p:nvGrpSpPr>
      <p:grpSpPr>
        <a:xfrm>
          <a:off x="0" y="0"/>
          <a:ext cx="0" cy="0"/>
          <a:chOff x="0" y="0"/>
          <a:chExt cx="0" cy="0"/>
        </a:xfrm>
      </p:grpSpPr>
      <p:sp>
        <p:nvSpPr>
          <p:cNvPr name="Freeform 2" id="2"/>
          <p:cNvSpPr/>
          <p:nvPr/>
        </p:nvSpPr>
        <p:spPr>
          <a:xfrm flipH="true" flipV="true" rot="-5400000">
            <a:off x="13678554" y="-404673"/>
            <a:ext cx="4204772" cy="5014119"/>
          </a:xfrm>
          <a:custGeom>
            <a:avLst/>
            <a:gdLst/>
            <a:ahLst/>
            <a:cxnLst/>
            <a:rect r="r" b="b" t="t" l="l"/>
            <a:pathLst>
              <a:path h="5014119" w="4204772">
                <a:moveTo>
                  <a:pt x="4204773" y="5014119"/>
                </a:moveTo>
                <a:lnTo>
                  <a:pt x="0" y="5014119"/>
                </a:lnTo>
                <a:lnTo>
                  <a:pt x="0" y="0"/>
                </a:lnTo>
                <a:lnTo>
                  <a:pt x="4204773" y="0"/>
                </a:lnTo>
                <a:lnTo>
                  <a:pt x="4204773" y="5014119"/>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16230600" cy="8229600"/>
            <a:chOff x="0" y="0"/>
            <a:chExt cx="1401144" cy="710439"/>
          </a:xfrm>
        </p:grpSpPr>
        <p:sp>
          <p:nvSpPr>
            <p:cNvPr name="Freeform 4" id="4"/>
            <p:cNvSpPr/>
            <p:nvPr/>
          </p:nvSpPr>
          <p:spPr>
            <a:xfrm flipH="false" flipV="false" rot="0">
              <a:off x="0" y="0"/>
              <a:ext cx="1401144" cy="710439"/>
            </a:xfrm>
            <a:custGeom>
              <a:avLst/>
              <a:gdLst/>
              <a:ahLst/>
              <a:cxnLst/>
              <a:rect r="r" b="b" t="t" l="l"/>
              <a:pathLst>
                <a:path h="710439" w="1401144">
                  <a:moveTo>
                    <a:pt x="9316" y="0"/>
                  </a:moveTo>
                  <a:lnTo>
                    <a:pt x="1391828" y="0"/>
                  </a:lnTo>
                  <a:cubicBezTo>
                    <a:pt x="1396973" y="0"/>
                    <a:pt x="1401144" y="4171"/>
                    <a:pt x="1401144" y="9316"/>
                  </a:cubicBezTo>
                  <a:lnTo>
                    <a:pt x="1401144" y="701123"/>
                  </a:lnTo>
                  <a:cubicBezTo>
                    <a:pt x="1401144" y="706268"/>
                    <a:pt x="1396973" y="710439"/>
                    <a:pt x="1391828" y="710439"/>
                  </a:cubicBezTo>
                  <a:lnTo>
                    <a:pt x="9316" y="710439"/>
                  </a:lnTo>
                  <a:cubicBezTo>
                    <a:pt x="4171" y="710439"/>
                    <a:pt x="0" y="706268"/>
                    <a:pt x="0" y="701123"/>
                  </a:cubicBezTo>
                  <a:lnTo>
                    <a:pt x="0" y="9316"/>
                  </a:lnTo>
                  <a:cubicBezTo>
                    <a:pt x="0" y="4171"/>
                    <a:pt x="4171" y="0"/>
                    <a:pt x="9316" y="0"/>
                  </a:cubicBezTo>
                  <a:close/>
                </a:path>
              </a:pathLst>
            </a:custGeom>
            <a:solidFill>
              <a:srgbClr val="E3F3FF">
                <a:alpha val="51765"/>
              </a:srgbClr>
            </a:solidFill>
          </p:spPr>
        </p:sp>
        <p:sp>
          <p:nvSpPr>
            <p:cNvPr name="TextBox 5" id="5"/>
            <p:cNvSpPr txBox="true"/>
            <p:nvPr/>
          </p:nvSpPr>
          <p:spPr>
            <a:xfrm>
              <a:off x="0" y="-38100"/>
              <a:ext cx="1401144" cy="74853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5400000">
            <a:off x="404673" y="5677554"/>
            <a:ext cx="4204772" cy="5014119"/>
          </a:xfrm>
          <a:custGeom>
            <a:avLst/>
            <a:gdLst/>
            <a:ahLst/>
            <a:cxnLst/>
            <a:rect r="r" b="b" t="t" l="l"/>
            <a:pathLst>
              <a:path h="5014119" w="4204772">
                <a:moveTo>
                  <a:pt x="0" y="0"/>
                </a:moveTo>
                <a:lnTo>
                  <a:pt x="4204773" y="0"/>
                </a:lnTo>
                <a:lnTo>
                  <a:pt x="4204773" y="5014119"/>
                </a:lnTo>
                <a:lnTo>
                  <a:pt x="0" y="50141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924867" y="6082228"/>
            <a:ext cx="3164385" cy="3025532"/>
          </a:xfrm>
          <a:custGeom>
            <a:avLst/>
            <a:gdLst/>
            <a:ahLst/>
            <a:cxnLst/>
            <a:rect r="r" b="b" t="t" l="l"/>
            <a:pathLst>
              <a:path h="3025532" w="3164385">
                <a:moveTo>
                  <a:pt x="3164385" y="0"/>
                </a:moveTo>
                <a:lnTo>
                  <a:pt x="0" y="0"/>
                </a:lnTo>
                <a:lnTo>
                  <a:pt x="0" y="3025532"/>
                </a:lnTo>
                <a:lnTo>
                  <a:pt x="3164385" y="3025532"/>
                </a:lnTo>
                <a:lnTo>
                  <a:pt x="316438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548688" y="9028435"/>
            <a:ext cx="960024" cy="1118672"/>
          </a:xfrm>
          <a:custGeom>
            <a:avLst/>
            <a:gdLst/>
            <a:ahLst/>
            <a:cxnLst/>
            <a:rect r="r" b="b" t="t" l="l"/>
            <a:pathLst>
              <a:path h="1118672" w="960024">
                <a:moveTo>
                  <a:pt x="0" y="0"/>
                </a:moveTo>
                <a:lnTo>
                  <a:pt x="960024" y="0"/>
                </a:lnTo>
                <a:lnTo>
                  <a:pt x="960024" y="1118673"/>
                </a:lnTo>
                <a:lnTo>
                  <a:pt x="0" y="1118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5400000">
            <a:off x="16779288" y="469364"/>
            <a:ext cx="960024" cy="1118672"/>
          </a:xfrm>
          <a:custGeom>
            <a:avLst/>
            <a:gdLst/>
            <a:ahLst/>
            <a:cxnLst/>
            <a:rect r="r" b="b" t="t" l="l"/>
            <a:pathLst>
              <a:path h="1118672" w="960024">
                <a:moveTo>
                  <a:pt x="0" y="0"/>
                </a:moveTo>
                <a:lnTo>
                  <a:pt x="960024" y="0"/>
                </a:lnTo>
                <a:lnTo>
                  <a:pt x="960024" y="1118672"/>
                </a:lnTo>
                <a:lnTo>
                  <a:pt x="0" y="1118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5596906">
            <a:off x="14628974" y="133844"/>
            <a:ext cx="3594965" cy="3523066"/>
          </a:xfrm>
          <a:custGeom>
            <a:avLst/>
            <a:gdLst/>
            <a:ahLst/>
            <a:cxnLst/>
            <a:rect r="r" b="b" t="t" l="l"/>
            <a:pathLst>
              <a:path h="3523066" w="3594965">
                <a:moveTo>
                  <a:pt x="0" y="0"/>
                </a:moveTo>
                <a:lnTo>
                  <a:pt x="3594965" y="0"/>
                </a:lnTo>
                <a:lnTo>
                  <a:pt x="3594965" y="3523065"/>
                </a:lnTo>
                <a:lnTo>
                  <a:pt x="0" y="35230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6168893">
            <a:off x="3117453" y="8698964"/>
            <a:ext cx="1320321" cy="1118672"/>
          </a:xfrm>
          <a:custGeom>
            <a:avLst/>
            <a:gdLst/>
            <a:ahLst/>
            <a:cxnLst/>
            <a:rect r="r" b="b" t="t" l="l"/>
            <a:pathLst>
              <a:path h="1118672" w="1320321">
                <a:moveTo>
                  <a:pt x="0" y="0"/>
                </a:moveTo>
                <a:lnTo>
                  <a:pt x="1320321" y="0"/>
                </a:lnTo>
                <a:lnTo>
                  <a:pt x="1320321" y="1118672"/>
                </a:lnTo>
                <a:lnTo>
                  <a:pt x="0" y="11186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6039803" y="8184614"/>
            <a:ext cx="1320321" cy="1118672"/>
          </a:xfrm>
          <a:custGeom>
            <a:avLst/>
            <a:gdLst/>
            <a:ahLst/>
            <a:cxnLst/>
            <a:rect r="r" b="b" t="t" l="l"/>
            <a:pathLst>
              <a:path h="1118672" w="1320321">
                <a:moveTo>
                  <a:pt x="0" y="0"/>
                </a:moveTo>
                <a:lnTo>
                  <a:pt x="1320322" y="0"/>
                </a:lnTo>
                <a:lnTo>
                  <a:pt x="1320322" y="1118672"/>
                </a:lnTo>
                <a:lnTo>
                  <a:pt x="0" y="11186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6801751">
            <a:off x="207094" y="10648"/>
            <a:ext cx="2761885" cy="2996128"/>
          </a:xfrm>
          <a:custGeom>
            <a:avLst/>
            <a:gdLst/>
            <a:ahLst/>
            <a:cxnLst/>
            <a:rect r="r" b="b" t="t" l="l"/>
            <a:pathLst>
              <a:path h="2996128" w="2761885">
                <a:moveTo>
                  <a:pt x="0" y="0"/>
                </a:moveTo>
                <a:lnTo>
                  <a:pt x="2761885" y="0"/>
                </a:lnTo>
                <a:lnTo>
                  <a:pt x="2761885" y="2996128"/>
                </a:lnTo>
                <a:lnTo>
                  <a:pt x="0" y="29961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3584392" y="3103791"/>
            <a:ext cx="9997083" cy="2109469"/>
          </a:xfrm>
          <a:prstGeom prst="rect">
            <a:avLst/>
          </a:prstGeom>
        </p:spPr>
        <p:txBody>
          <a:bodyPr anchor="t" rtlCol="false" tIns="0" lIns="0" bIns="0" rIns="0">
            <a:spAutoFit/>
          </a:bodyPr>
          <a:lstStyle/>
          <a:p>
            <a:pPr algn="ctr">
              <a:lnSpc>
                <a:spcPts val="16660"/>
              </a:lnSpc>
              <a:spcBef>
                <a:spcPct val="0"/>
              </a:spcBef>
            </a:pPr>
            <a:r>
              <a:rPr lang="en-US" b="true" sz="11900">
                <a:solidFill>
                  <a:srgbClr val="000000"/>
                </a:solidFill>
                <a:latin typeface="Libra Serif Modern Bold"/>
                <a:ea typeface="Libra Serif Modern Bold"/>
                <a:cs typeface="Libra Serif Modern Bold"/>
                <a:sym typeface="Libra Serif Modern Bold"/>
              </a:rPr>
              <a:t>Pharma Search</a:t>
            </a:r>
          </a:p>
        </p:txBody>
      </p:sp>
      <p:sp>
        <p:nvSpPr>
          <p:cNvPr name="TextBox 15" id="15"/>
          <p:cNvSpPr txBox="true"/>
          <p:nvPr/>
        </p:nvSpPr>
        <p:spPr>
          <a:xfrm rot="0">
            <a:off x="8421254" y="5718961"/>
            <a:ext cx="5628965" cy="1203476"/>
          </a:xfrm>
          <a:prstGeom prst="rect">
            <a:avLst/>
          </a:prstGeom>
        </p:spPr>
        <p:txBody>
          <a:bodyPr anchor="t" rtlCol="false" tIns="0" lIns="0" bIns="0" rIns="0">
            <a:spAutoFit/>
          </a:bodyPr>
          <a:lstStyle/>
          <a:p>
            <a:pPr algn="l">
              <a:lnSpc>
                <a:spcPts val="3176"/>
              </a:lnSpc>
            </a:pPr>
            <a:r>
              <a:rPr lang="en-US" sz="2268">
                <a:solidFill>
                  <a:srgbClr val="000000"/>
                </a:solidFill>
                <a:latin typeface="Libra Serif Modern"/>
                <a:ea typeface="Libra Serif Modern"/>
                <a:cs typeface="Libra Serif Modern"/>
                <a:sym typeface="Libra Serif Modern"/>
              </a:rPr>
              <a:t> 2520030592 :- P.Asritha Chowdary</a:t>
            </a:r>
          </a:p>
          <a:p>
            <a:pPr algn="l">
              <a:lnSpc>
                <a:spcPts val="3176"/>
              </a:lnSpc>
            </a:pPr>
            <a:r>
              <a:rPr lang="en-US" sz="2268">
                <a:solidFill>
                  <a:srgbClr val="000000"/>
                </a:solidFill>
                <a:latin typeface="Libra Serif Modern"/>
                <a:ea typeface="Libra Serif Modern"/>
                <a:cs typeface="Libra Serif Modern"/>
                <a:sym typeface="Libra Serif Modern"/>
              </a:rPr>
              <a:t>2520030072 :- Y.Akshaya</a:t>
            </a:r>
          </a:p>
          <a:p>
            <a:pPr algn="l">
              <a:lnSpc>
                <a:spcPts val="3176"/>
              </a:lnSpc>
            </a:pPr>
            <a:r>
              <a:rPr lang="en-US" sz="2268">
                <a:solidFill>
                  <a:srgbClr val="000000"/>
                </a:solidFill>
                <a:latin typeface="Libra Serif Modern"/>
                <a:ea typeface="Libra Serif Modern"/>
                <a:cs typeface="Libra Serif Modern"/>
                <a:sym typeface="Libra Serif Modern"/>
              </a:rPr>
              <a:t>2520030202 :- Kommalapati Rishitha Chowdary</a:t>
            </a:r>
          </a:p>
        </p:txBody>
      </p:sp>
      <p:sp>
        <p:nvSpPr>
          <p:cNvPr name="AutoShape 16" id="16"/>
          <p:cNvSpPr/>
          <p:nvPr/>
        </p:nvSpPr>
        <p:spPr>
          <a:xfrm>
            <a:off x="5523254" y="6056935"/>
            <a:ext cx="2196497"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5E5F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1401144" cy="710439"/>
          </a:xfrm>
        </p:grpSpPr>
        <p:sp>
          <p:nvSpPr>
            <p:cNvPr name="Freeform 3" id="3"/>
            <p:cNvSpPr/>
            <p:nvPr/>
          </p:nvSpPr>
          <p:spPr>
            <a:xfrm flipH="false" flipV="false" rot="0">
              <a:off x="0" y="0"/>
              <a:ext cx="1401144" cy="710439"/>
            </a:xfrm>
            <a:custGeom>
              <a:avLst/>
              <a:gdLst/>
              <a:ahLst/>
              <a:cxnLst/>
              <a:rect r="r" b="b" t="t" l="l"/>
              <a:pathLst>
                <a:path h="710439" w="1401144">
                  <a:moveTo>
                    <a:pt x="9316" y="0"/>
                  </a:moveTo>
                  <a:lnTo>
                    <a:pt x="1391828" y="0"/>
                  </a:lnTo>
                  <a:cubicBezTo>
                    <a:pt x="1396973" y="0"/>
                    <a:pt x="1401144" y="4171"/>
                    <a:pt x="1401144" y="9316"/>
                  </a:cubicBezTo>
                  <a:lnTo>
                    <a:pt x="1401144" y="701123"/>
                  </a:lnTo>
                  <a:cubicBezTo>
                    <a:pt x="1401144" y="706268"/>
                    <a:pt x="1396973" y="710439"/>
                    <a:pt x="1391828" y="710439"/>
                  </a:cubicBezTo>
                  <a:lnTo>
                    <a:pt x="9316" y="710439"/>
                  </a:lnTo>
                  <a:cubicBezTo>
                    <a:pt x="4171" y="710439"/>
                    <a:pt x="0" y="706268"/>
                    <a:pt x="0" y="701123"/>
                  </a:cubicBezTo>
                  <a:lnTo>
                    <a:pt x="0" y="9316"/>
                  </a:lnTo>
                  <a:cubicBezTo>
                    <a:pt x="0" y="4171"/>
                    <a:pt x="4171" y="0"/>
                    <a:pt x="9316" y="0"/>
                  </a:cubicBezTo>
                  <a:close/>
                </a:path>
              </a:pathLst>
            </a:custGeom>
            <a:solidFill>
              <a:srgbClr val="E3F3FF">
                <a:alpha val="51765"/>
              </a:srgbClr>
            </a:solidFill>
          </p:spPr>
        </p:sp>
        <p:sp>
          <p:nvSpPr>
            <p:cNvPr name="TextBox 4" id="4"/>
            <p:cNvSpPr txBox="true"/>
            <p:nvPr/>
          </p:nvSpPr>
          <p:spPr>
            <a:xfrm>
              <a:off x="0" y="-38100"/>
              <a:ext cx="1401144" cy="74853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true" rot="0">
            <a:off x="14083228" y="5291931"/>
            <a:ext cx="4204772" cy="5014119"/>
          </a:xfrm>
          <a:custGeom>
            <a:avLst/>
            <a:gdLst/>
            <a:ahLst/>
            <a:cxnLst/>
            <a:rect r="r" b="b" t="t" l="l"/>
            <a:pathLst>
              <a:path h="5014119" w="4204772">
                <a:moveTo>
                  <a:pt x="4204772" y="5014119"/>
                </a:moveTo>
                <a:lnTo>
                  <a:pt x="0" y="5014119"/>
                </a:lnTo>
                <a:lnTo>
                  <a:pt x="0" y="0"/>
                </a:lnTo>
                <a:lnTo>
                  <a:pt x="4204772" y="0"/>
                </a:lnTo>
                <a:lnTo>
                  <a:pt x="4204772" y="501411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0"/>
            <a:ext cx="4204772" cy="5014119"/>
          </a:xfrm>
          <a:custGeom>
            <a:avLst/>
            <a:gdLst/>
            <a:ahLst/>
            <a:cxnLst/>
            <a:rect r="r" b="b" t="t" l="l"/>
            <a:pathLst>
              <a:path h="5014119" w="4204772">
                <a:moveTo>
                  <a:pt x="0" y="0"/>
                </a:moveTo>
                <a:lnTo>
                  <a:pt x="4204772" y="0"/>
                </a:lnTo>
                <a:lnTo>
                  <a:pt x="4204772" y="5014119"/>
                </a:lnTo>
                <a:lnTo>
                  <a:pt x="0" y="50141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19216" y="469364"/>
            <a:ext cx="960024" cy="1118672"/>
          </a:xfrm>
          <a:custGeom>
            <a:avLst/>
            <a:gdLst/>
            <a:ahLst/>
            <a:cxnLst/>
            <a:rect r="r" b="b" t="t" l="l"/>
            <a:pathLst>
              <a:path h="1118672" w="960024">
                <a:moveTo>
                  <a:pt x="0" y="0"/>
                </a:moveTo>
                <a:lnTo>
                  <a:pt x="960024" y="0"/>
                </a:lnTo>
                <a:lnTo>
                  <a:pt x="960024" y="1118672"/>
                </a:lnTo>
                <a:lnTo>
                  <a:pt x="0" y="1118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779288" y="8698964"/>
            <a:ext cx="960024" cy="1118672"/>
          </a:xfrm>
          <a:custGeom>
            <a:avLst/>
            <a:gdLst/>
            <a:ahLst/>
            <a:cxnLst/>
            <a:rect r="r" b="b" t="t" l="l"/>
            <a:pathLst>
              <a:path h="1118672" w="960024">
                <a:moveTo>
                  <a:pt x="0" y="0"/>
                </a:moveTo>
                <a:lnTo>
                  <a:pt x="960024" y="0"/>
                </a:lnTo>
                <a:lnTo>
                  <a:pt x="960024" y="1118672"/>
                </a:lnTo>
                <a:lnTo>
                  <a:pt x="0" y="1118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2102386" y="2580227"/>
            <a:ext cx="2681119" cy="6118737"/>
          </a:xfrm>
          <a:custGeom>
            <a:avLst/>
            <a:gdLst/>
            <a:ahLst/>
            <a:cxnLst/>
            <a:rect r="r" b="b" t="t" l="l"/>
            <a:pathLst>
              <a:path h="6118737" w="2681119">
                <a:moveTo>
                  <a:pt x="0" y="0"/>
                </a:moveTo>
                <a:lnTo>
                  <a:pt x="2681119" y="0"/>
                </a:lnTo>
                <a:lnTo>
                  <a:pt x="2681119" y="6118737"/>
                </a:lnTo>
                <a:lnTo>
                  <a:pt x="0" y="6118737"/>
                </a:lnTo>
                <a:lnTo>
                  <a:pt x="0" y="0"/>
                </a:lnTo>
                <a:close/>
              </a:path>
            </a:pathLst>
          </a:custGeom>
          <a:blipFill>
            <a:blip r:embed="rId6"/>
            <a:stretch>
              <a:fillRect l="0" t="0" r="0" b="0"/>
            </a:stretch>
          </a:blipFill>
        </p:spPr>
      </p:sp>
      <p:sp>
        <p:nvSpPr>
          <p:cNvPr name="Freeform 10" id="10"/>
          <p:cNvSpPr/>
          <p:nvPr/>
        </p:nvSpPr>
        <p:spPr>
          <a:xfrm flipH="false" flipV="false" rot="0">
            <a:off x="15115176" y="-469364"/>
            <a:ext cx="4025023" cy="4114800"/>
          </a:xfrm>
          <a:custGeom>
            <a:avLst/>
            <a:gdLst/>
            <a:ahLst/>
            <a:cxnLst/>
            <a:rect r="r" b="b" t="t" l="l"/>
            <a:pathLst>
              <a:path h="4114800" w="4025023">
                <a:moveTo>
                  <a:pt x="0" y="0"/>
                </a:moveTo>
                <a:lnTo>
                  <a:pt x="4025022" y="0"/>
                </a:lnTo>
                <a:lnTo>
                  <a:pt x="4025022"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8510581" y="885825"/>
            <a:ext cx="2770477" cy="1047144"/>
          </a:xfrm>
          <a:prstGeom prst="rect">
            <a:avLst/>
          </a:prstGeom>
        </p:spPr>
        <p:txBody>
          <a:bodyPr anchor="t" rtlCol="false" tIns="0" lIns="0" bIns="0" rIns="0">
            <a:spAutoFit/>
          </a:bodyPr>
          <a:lstStyle/>
          <a:p>
            <a:pPr algn="ctr">
              <a:lnSpc>
                <a:spcPts val="8212"/>
              </a:lnSpc>
              <a:spcBef>
                <a:spcPct val="0"/>
              </a:spcBef>
            </a:pPr>
            <a:r>
              <a:rPr lang="en-US" b="true" sz="5865">
                <a:solidFill>
                  <a:srgbClr val="000000"/>
                </a:solidFill>
                <a:latin typeface="Libra Serif Modern Bold"/>
                <a:ea typeface="Libra Serif Modern Bold"/>
                <a:cs typeface="Libra Serif Modern Bold"/>
                <a:sym typeface="Libra Serif Modern Bold"/>
              </a:rPr>
              <a:t>Abstract</a:t>
            </a:r>
          </a:p>
        </p:txBody>
      </p:sp>
      <p:sp>
        <p:nvSpPr>
          <p:cNvPr name="TextBox 12" id="12"/>
          <p:cNvSpPr txBox="true"/>
          <p:nvPr/>
        </p:nvSpPr>
        <p:spPr>
          <a:xfrm rot="0">
            <a:off x="5611682" y="2040237"/>
            <a:ext cx="9503494" cy="8246763"/>
          </a:xfrm>
          <a:prstGeom prst="rect">
            <a:avLst/>
          </a:prstGeom>
        </p:spPr>
        <p:txBody>
          <a:bodyPr anchor="t" rtlCol="false" tIns="0" lIns="0" bIns="0" rIns="0">
            <a:spAutoFit/>
          </a:bodyPr>
          <a:lstStyle/>
          <a:p>
            <a:pPr algn="just">
              <a:lnSpc>
                <a:spcPts val="4642"/>
              </a:lnSpc>
            </a:pPr>
            <a:r>
              <a:rPr lang="en-US" sz="3316">
                <a:solidFill>
                  <a:srgbClr val="000000"/>
                </a:solidFill>
                <a:latin typeface="Libra Serif Modern"/>
                <a:ea typeface="Libra Serif Modern"/>
                <a:cs typeface="Libra Serif Modern"/>
                <a:sym typeface="Libra Serif Modern"/>
              </a:rPr>
              <a:t>The Pharma Search System is a smart and efficient application designed to help users quickly search and retrieve medicine-related information. It maintains a centralized database containing details such as medicine names, manufacturers, dosage, and substitutes. The system enables pharmacists and healthcare professionals to locate relevant medicines instantly, reducing search time and improving accuracy. By providing fast access to reliable pharmaceutical information, the Pharma Search System enhances productivity, supports better decision-making, and ensures efficient medicine management in pharmacies and hospitals.</a:t>
            </a:r>
          </a:p>
          <a:p>
            <a:pPr algn="just">
              <a:lnSpc>
                <a:spcPts val="4642"/>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5E5F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1401144" cy="710439"/>
          </a:xfrm>
        </p:grpSpPr>
        <p:sp>
          <p:nvSpPr>
            <p:cNvPr name="Freeform 3" id="3"/>
            <p:cNvSpPr/>
            <p:nvPr/>
          </p:nvSpPr>
          <p:spPr>
            <a:xfrm flipH="false" flipV="false" rot="0">
              <a:off x="0" y="0"/>
              <a:ext cx="1401144" cy="710439"/>
            </a:xfrm>
            <a:custGeom>
              <a:avLst/>
              <a:gdLst/>
              <a:ahLst/>
              <a:cxnLst/>
              <a:rect r="r" b="b" t="t" l="l"/>
              <a:pathLst>
                <a:path h="710439" w="1401144">
                  <a:moveTo>
                    <a:pt x="9316" y="0"/>
                  </a:moveTo>
                  <a:lnTo>
                    <a:pt x="1391828" y="0"/>
                  </a:lnTo>
                  <a:cubicBezTo>
                    <a:pt x="1396973" y="0"/>
                    <a:pt x="1401144" y="4171"/>
                    <a:pt x="1401144" y="9316"/>
                  </a:cubicBezTo>
                  <a:lnTo>
                    <a:pt x="1401144" y="701123"/>
                  </a:lnTo>
                  <a:cubicBezTo>
                    <a:pt x="1401144" y="706268"/>
                    <a:pt x="1396973" y="710439"/>
                    <a:pt x="1391828" y="710439"/>
                  </a:cubicBezTo>
                  <a:lnTo>
                    <a:pt x="9316" y="710439"/>
                  </a:lnTo>
                  <a:cubicBezTo>
                    <a:pt x="4171" y="710439"/>
                    <a:pt x="0" y="706268"/>
                    <a:pt x="0" y="701123"/>
                  </a:cubicBezTo>
                  <a:lnTo>
                    <a:pt x="0" y="9316"/>
                  </a:lnTo>
                  <a:cubicBezTo>
                    <a:pt x="0" y="4171"/>
                    <a:pt x="4171" y="0"/>
                    <a:pt x="9316" y="0"/>
                  </a:cubicBezTo>
                  <a:close/>
                </a:path>
              </a:pathLst>
            </a:custGeom>
            <a:solidFill>
              <a:srgbClr val="E3F3FF">
                <a:alpha val="51765"/>
              </a:srgbClr>
            </a:solidFill>
          </p:spPr>
        </p:sp>
        <p:sp>
          <p:nvSpPr>
            <p:cNvPr name="TextBox 4" id="4"/>
            <p:cNvSpPr txBox="true"/>
            <p:nvPr/>
          </p:nvSpPr>
          <p:spPr>
            <a:xfrm>
              <a:off x="0" y="-38100"/>
              <a:ext cx="1401144" cy="74853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true" rot="0">
            <a:off x="11560854" y="2580227"/>
            <a:ext cx="7108642" cy="8476935"/>
          </a:xfrm>
          <a:custGeom>
            <a:avLst/>
            <a:gdLst/>
            <a:ahLst/>
            <a:cxnLst/>
            <a:rect r="r" b="b" t="t" l="l"/>
            <a:pathLst>
              <a:path h="8476935" w="7108642">
                <a:moveTo>
                  <a:pt x="7108643" y="8476935"/>
                </a:moveTo>
                <a:lnTo>
                  <a:pt x="0" y="8476935"/>
                </a:lnTo>
                <a:lnTo>
                  <a:pt x="0" y="0"/>
                </a:lnTo>
                <a:lnTo>
                  <a:pt x="7108643" y="0"/>
                </a:lnTo>
                <a:lnTo>
                  <a:pt x="7108643" y="847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115176" y="-469364"/>
            <a:ext cx="4025023" cy="4114800"/>
          </a:xfrm>
          <a:custGeom>
            <a:avLst/>
            <a:gdLst/>
            <a:ahLst/>
            <a:cxnLst/>
            <a:rect r="r" b="b" t="t" l="l"/>
            <a:pathLst>
              <a:path h="4114800" w="4025023">
                <a:moveTo>
                  <a:pt x="0" y="0"/>
                </a:moveTo>
                <a:lnTo>
                  <a:pt x="4025022" y="0"/>
                </a:lnTo>
                <a:lnTo>
                  <a:pt x="402502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178815" y="3452594"/>
            <a:ext cx="7624331" cy="5246370"/>
            <a:chOff x="0" y="0"/>
            <a:chExt cx="1181208" cy="812800"/>
          </a:xfrm>
        </p:grpSpPr>
        <p:sp>
          <p:nvSpPr>
            <p:cNvPr name="Freeform 8" id="8"/>
            <p:cNvSpPr/>
            <p:nvPr/>
          </p:nvSpPr>
          <p:spPr>
            <a:xfrm flipH="false" flipV="false" rot="0">
              <a:off x="0" y="0"/>
              <a:ext cx="1181208" cy="812800"/>
            </a:xfrm>
            <a:custGeom>
              <a:avLst/>
              <a:gdLst/>
              <a:ahLst/>
              <a:cxnLst/>
              <a:rect r="r" b="b" t="t" l="l"/>
              <a:pathLst>
                <a:path h="812800" w="1181208">
                  <a:moveTo>
                    <a:pt x="0" y="0"/>
                  </a:moveTo>
                  <a:lnTo>
                    <a:pt x="1181208" y="0"/>
                  </a:lnTo>
                  <a:lnTo>
                    <a:pt x="1181208" y="812800"/>
                  </a:lnTo>
                  <a:lnTo>
                    <a:pt x="0" y="812800"/>
                  </a:lnTo>
                  <a:close/>
                </a:path>
              </a:pathLst>
            </a:custGeom>
            <a:blipFill>
              <a:blip r:embed="rId6"/>
              <a:stretch>
                <a:fillRect l="-1561" t="0" r="-1561" b="0"/>
              </a:stretch>
            </a:blipFill>
            <a:ln w="114300" cap="sq">
              <a:solidFill>
                <a:srgbClr val="51BD8B"/>
              </a:solidFill>
              <a:prstDash val="solid"/>
              <a:miter/>
            </a:ln>
          </p:spPr>
        </p:sp>
      </p:grpSp>
      <p:sp>
        <p:nvSpPr>
          <p:cNvPr name="Freeform 9" id="9"/>
          <p:cNvSpPr/>
          <p:nvPr/>
        </p:nvSpPr>
        <p:spPr>
          <a:xfrm flipH="false" flipV="false" rot="0">
            <a:off x="15307932" y="7553096"/>
            <a:ext cx="2334176" cy="2291736"/>
          </a:xfrm>
          <a:custGeom>
            <a:avLst/>
            <a:gdLst/>
            <a:ahLst/>
            <a:cxnLst/>
            <a:rect r="r" b="b" t="t" l="l"/>
            <a:pathLst>
              <a:path h="2291736" w="2334176">
                <a:moveTo>
                  <a:pt x="0" y="0"/>
                </a:moveTo>
                <a:lnTo>
                  <a:pt x="2334176" y="0"/>
                </a:lnTo>
                <a:lnTo>
                  <a:pt x="2334176" y="2291736"/>
                </a:lnTo>
                <a:lnTo>
                  <a:pt x="0" y="22917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709214" y="1359436"/>
            <a:ext cx="10869573" cy="1785619"/>
          </a:xfrm>
          <a:prstGeom prst="rect">
            <a:avLst/>
          </a:prstGeom>
        </p:spPr>
        <p:txBody>
          <a:bodyPr anchor="t" rtlCol="false" tIns="0" lIns="0" bIns="0" rIns="0">
            <a:spAutoFit/>
          </a:bodyPr>
          <a:lstStyle/>
          <a:p>
            <a:pPr algn="ctr">
              <a:lnSpc>
                <a:spcPts val="14140"/>
              </a:lnSpc>
              <a:spcBef>
                <a:spcPct val="0"/>
              </a:spcBef>
            </a:pPr>
            <a:r>
              <a:rPr lang="en-US" b="true" sz="10100">
                <a:solidFill>
                  <a:srgbClr val="000000"/>
                </a:solidFill>
                <a:latin typeface="Libra Serif Modern Bold"/>
                <a:ea typeface="Libra Serif Modern Bold"/>
                <a:cs typeface="Libra Serif Modern Bold"/>
                <a:sym typeface="Libra Serif Modern Bold"/>
              </a:rPr>
              <a:t>Problem Statement </a:t>
            </a:r>
          </a:p>
        </p:txBody>
      </p:sp>
      <p:sp>
        <p:nvSpPr>
          <p:cNvPr name="TextBox 11" id="11"/>
          <p:cNvSpPr txBox="true"/>
          <p:nvPr/>
        </p:nvSpPr>
        <p:spPr>
          <a:xfrm rot="0">
            <a:off x="7318478" y="3904079"/>
            <a:ext cx="7113154" cy="3200400"/>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Libra Serif Modern"/>
                <a:ea typeface="Libra Serif Modern"/>
                <a:cs typeface="Libra Serif Modern"/>
                <a:sym typeface="Libra Serif Modern"/>
              </a:rPr>
              <a:t>Pharmacies and hospitals often face delays in locating accurate medicine information due to large and unorganized pharmaceutical records. An efficient search system is required to quickly retrieve medicine details, manufacturers, dosages, and substitutes.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5E5FE"/>
        </a:solidFill>
      </p:bgPr>
    </p:bg>
    <p:spTree>
      <p:nvGrpSpPr>
        <p:cNvPr id="1" name=""/>
        <p:cNvGrpSpPr/>
        <p:nvPr/>
      </p:nvGrpSpPr>
      <p:grpSpPr>
        <a:xfrm>
          <a:off x="0" y="0"/>
          <a:ext cx="0" cy="0"/>
          <a:chOff x="0" y="0"/>
          <a:chExt cx="0" cy="0"/>
        </a:xfrm>
      </p:grpSpPr>
      <p:grpSp>
        <p:nvGrpSpPr>
          <p:cNvPr name="Group 2" id="2"/>
          <p:cNvGrpSpPr/>
          <p:nvPr/>
        </p:nvGrpSpPr>
        <p:grpSpPr>
          <a:xfrm rot="0">
            <a:off x="140862" y="1066800"/>
            <a:ext cx="18504394" cy="8229600"/>
            <a:chOff x="0" y="0"/>
            <a:chExt cx="1597435" cy="710439"/>
          </a:xfrm>
        </p:grpSpPr>
        <p:sp>
          <p:nvSpPr>
            <p:cNvPr name="Freeform 3" id="3"/>
            <p:cNvSpPr/>
            <p:nvPr/>
          </p:nvSpPr>
          <p:spPr>
            <a:xfrm flipH="false" flipV="false" rot="0">
              <a:off x="0" y="0"/>
              <a:ext cx="1597435" cy="710439"/>
            </a:xfrm>
            <a:custGeom>
              <a:avLst/>
              <a:gdLst/>
              <a:ahLst/>
              <a:cxnLst/>
              <a:rect r="r" b="b" t="t" l="l"/>
              <a:pathLst>
                <a:path h="710439" w="1597435">
                  <a:moveTo>
                    <a:pt x="8172" y="0"/>
                  </a:moveTo>
                  <a:lnTo>
                    <a:pt x="1589263" y="0"/>
                  </a:lnTo>
                  <a:cubicBezTo>
                    <a:pt x="1593776" y="0"/>
                    <a:pt x="1597435" y="3659"/>
                    <a:pt x="1597435" y="8172"/>
                  </a:cubicBezTo>
                  <a:lnTo>
                    <a:pt x="1597435" y="702268"/>
                  </a:lnTo>
                  <a:cubicBezTo>
                    <a:pt x="1597435" y="706781"/>
                    <a:pt x="1593776" y="710439"/>
                    <a:pt x="1589263" y="710439"/>
                  </a:cubicBezTo>
                  <a:lnTo>
                    <a:pt x="8172" y="710439"/>
                  </a:lnTo>
                  <a:cubicBezTo>
                    <a:pt x="3659" y="710439"/>
                    <a:pt x="0" y="706781"/>
                    <a:pt x="0" y="702268"/>
                  </a:cubicBezTo>
                  <a:lnTo>
                    <a:pt x="0" y="8172"/>
                  </a:lnTo>
                  <a:cubicBezTo>
                    <a:pt x="0" y="3659"/>
                    <a:pt x="3659" y="0"/>
                    <a:pt x="8172" y="0"/>
                  </a:cubicBezTo>
                  <a:close/>
                </a:path>
              </a:pathLst>
            </a:custGeom>
            <a:solidFill>
              <a:srgbClr val="E3F3FF">
                <a:alpha val="51765"/>
              </a:srgbClr>
            </a:solidFill>
          </p:spPr>
        </p:sp>
        <p:sp>
          <p:nvSpPr>
            <p:cNvPr name="TextBox 4" id="4"/>
            <p:cNvSpPr txBox="true"/>
            <p:nvPr/>
          </p:nvSpPr>
          <p:spPr>
            <a:xfrm>
              <a:off x="0" y="-38100"/>
              <a:ext cx="1597435" cy="74853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9713" y="9258300"/>
            <a:ext cx="19252234" cy="1080865"/>
            <a:chOff x="0" y="0"/>
            <a:chExt cx="2020804" cy="113453"/>
          </a:xfrm>
        </p:grpSpPr>
        <p:sp>
          <p:nvSpPr>
            <p:cNvPr name="Freeform 6" id="6"/>
            <p:cNvSpPr/>
            <p:nvPr/>
          </p:nvSpPr>
          <p:spPr>
            <a:xfrm flipH="false" flipV="false" rot="0">
              <a:off x="0" y="0"/>
              <a:ext cx="2020804" cy="113453"/>
            </a:xfrm>
            <a:custGeom>
              <a:avLst/>
              <a:gdLst/>
              <a:ahLst/>
              <a:cxnLst/>
              <a:rect r="r" b="b" t="t" l="l"/>
              <a:pathLst>
                <a:path h="113453" w="2020804">
                  <a:moveTo>
                    <a:pt x="7854" y="0"/>
                  </a:moveTo>
                  <a:lnTo>
                    <a:pt x="2012950" y="0"/>
                  </a:lnTo>
                  <a:cubicBezTo>
                    <a:pt x="2017287" y="0"/>
                    <a:pt x="2020804" y="3516"/>
                    <a:pt x="2020804" y="7854"/>
                  </a:cubicBezTo>
                  <a:lnTo>
                    <a:pt x="2020804" y="105598"/>
                  </a:lnTo>
                  <a:cubicBezTo>
                    <a:pt x="2020804" y="109936"/>
                    <a:pt x="2017287" y="113453"/>
                    <a:pt x="2012950" y="113453"/>
                  </a:cubicBezTo>
                  <a:lnTo>
                    <a:pt x="7854" y="113453"/>
                  </a:lnTo>
                  <a:cubicBezTo>
                    <a:pt x="3516" y="113453"/>
                    <a:pt x="0" y="109936"/>
                    <a:pt x="0" y="105598"/>
                  </a:cubicBezTo>
                  <a:lnTo>
                    <a:pt x="0" y="7854"/>
                  </a:lnTo>
                  <a:cubicBezTo>
                    <a:pt x="0" y="3516"/>
                    <a:pt x="3516" y="0"/>
                    <a:pt x="7854" y="0"/>
                  </a:cubicBezTo>
                  <a:close/>
                </a:path>
              </a:pathLst>
            </a:custGeom>
            <a:solidFill>
              <a:srgbClr val="51BD8B"/>
            </a:solidFill>
          </p:spPr>
        </p:sp>
        <p:sp>
          <p:nvSpPr>
            <p:cNvPr name="TextBox 7" id="7"/>
            <p:cNvSpPr txBox="true"/>
            <p:nvPr/>
          </p:nvSpPr>
          <p:spPr>
            <a:xfrm>
              <a:off x="0" y="-38100"/>
              <a:ext cx="2020804" cy="15155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59713" y="8215535"/>
            <a:ext cx="19252234" cy="1080865"/>
            <a:chOff x="0" y="0"/>
            <a:chExt cx="2020804" cy="113453"/>
          </a:xfrm>
        </p:grpSpPr>
        <p:sp>
          <p:nvSpPr>
            <p:cNvPr name="Freeform 9" id="9"/>
            <p:cNvSpPr/>
            <p:nvPr/>
          </p:nvSpPr>
          <p:spPr>
            <a:xfrm flipH="false" flipV="false" rot="0">
              <a:off x="0" y="0"/>
              <a:ext cx="2020804" cy="113453"/>
            </a:xfrm>
            <a:custGeom>
              <a:avLst/>
              <a:gdLst/>
              <a:ahLst/>
              <a:cxnLst/>
              <a:rect r="r" b="b" t="t" l="l"/>
              <a:pathLst>
                <a:path h="113453" w="2020804">
                  <a:moveTo>
                    <a:pt x="7854" y="0"/>
                  </a:moveTo>
                  <a:lnTo>
                    <a:pt x="2012950" y="0"/>
                  </a:lnTo>
                  <a:cubicBezTo>
                    <a:pt x="2017287" y="0"/>
                    <a:pt x="2020804" y="3516"/>
                    <a:pt x="2020804" y="7854"/>
                  </a:cubicBezTo>
                  <a:lnTo>
                    <a:pt x="2020804" y="105598"/>
                  </a:lnTo>
                  <a:cubicBezTo>
                    <a:pt x="2020804" y="109936"/>
                    <a:pt x="2017287" y="113453"/>
                    <a:pt x="2012950" y="113453"/>
                  </a:cubicBezTo>
                  <a:lnTo>
                    <a:pt x="7854" y="113453"/>
                  </a:lnTo>
                  <a:cubicBezTo>
                    <a:pt x="3516" y="113453"/>
                    <a:pt x="0" y="109936"/>
                    <a:pt x="0" y="105598"/>
                  </a:cubicBezTo>
                  <a:lnTo>
                    <a:pt x="0" y="7854"/>
                  </a:lnTo>
                  <a:cubicBezTo>
                    <a:pt x="0" y="3516"/>
                    <a:pt x="3516" y="0"/>
                    <a:pt x="7854" y="0"/>
                  </a:cubicBezTo>
                  <a:close/>
                </a:path>
              </a:pathLst>
            </a:custGeom>
            <a:solidFill>
              <a:srgbClr val="1689E2"/>
            </a:solidFill>
          </p:spPr>
        </p:sp>
        <p:sp>
          <p:nvSpPr>
            <p:cNvPr name="TextBox 10" id="10"/>
            <p:cNvSpPr txBox="true"/>
            <p:nvPr/>
          </p:nvSpPr>
          <p:spPr>
            <a:xfrm>
              <a:off x="0" y="-38100"/>
              <a:ext cx="2020804" cy="15155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1948377">
            <a:off x="-277040" y="3097740"/>
            <a:ext cx="3707478" cy="3552438"/>
          </a:xfrm>
          <a:custGeom>
            <a:avLst/>
            <a:gdLst/>
            <a:ahLst/>
            <a:cxnLst/>
            <a:rect r="r" b="b" t="t" l="l"/>
            <a:pathLst>
              <a:path h="3552438" w="3707478">
                <a:moveTo>
                  <a:pt x="0" y="0"/>
                </a:moveTo>
                <a:lnTo>
                  <a:pt x="3707478" y="0"/>
                </a:lnTo>
                <a:lnTo>
                  <a:pt x="3707478" y="3552438"/>
                </a:lnTo>
                <a:lnTo>
                  <a:pt x="0" y="3552438"/>
                </a:lnTo>
                <a:lnTo>
                  <a:pt x="0" y="0"/>
                </a:lnTo>
                <a:close/>
              </a:path>
            </a:pathLst>
          </a:custGeom>
          <a:blipFill>
            <a:blip r:embed="rId2"/>
            <a:stretch>
              <a:fillRect l="0" t="0" r="0" b="0"/>
            </a:stretch>
          </a:blipFill>
        </p:spPr>
      </p:sp>
      <p:sp>
        <p:nvSpPr>
          <p:cNvPr name="Freeform 12" id="12"/>
          <p:cNvSpPr/>
          <p:nvPr/>
        </p:nvSpPr>
        <p:spPr>
          <a:xfrm flipH="false" flipV="false" rot="0">
            <a:off x="12708088" y="1513380"/>
            <a:ext cx="1765238" cy="1733611"/>
          </a:xfrm>
          <a:custGeom>
            <a:avLst/>
            <a:gdLst/>
            <a:ahLst/>
            <a:cxnLst/>
            <a:rect r="r" b="b" t="t" l="l"/>
            <a:pathLst>
              <a:path h="1733611" w="1765238">
                <a:moveTo>
                  <a:pt x="0" y="0"/>
                </a:moveTo>
                <a:lnTo>
                  <a:pt x="1765239" y="0"/>
                </a:lnTo>
                <a:lnTo>
                  <a:pt x="1765239" y="1733611"/>
                </a:lnTo>
                <a:lnTo>
                  <a:pt x="0" y="1733611"/>
                </a:lnTo>
                <a:lnTo>
                  <a:pt x="0" y="0"/>
                </a:lnTo>
                <a:close/>
              </a:path>
            </a:pathLst>
          </a:custGeom>
          <a:blipFill>
            <a:blip r:embed="rId3"/>
            <a:stretch>
              <a:fillRect l="0" t="0" r="0" b="0"/>
            </a:stretch>
          </a:blipFill>
        </p:spPr>
      </p:sp>
      <p:sp>
        <p:nvSpPr>
          <p:cNvPr name="TextBox 13" id="13"/>
          <p:cNvSpPr txBox="true"/>
          <p:nvPr/>
        </p:nvSpPr>
        <p:spPr>
          <a:xfrm rot="0">
            <a:off x="2984610" y="663149"/>
            <a:ext cx="10606098" cy="3234048"/>
          </a:xfrm>
          <a:prstGeom prst="rect">
            <a:avLst/>
          </a:prstGeom>
        </p:spPr>
        <p:txBody>
          <a:bodyPr anchor="t" rtlCol="false" tIns="0" lIns="0" bIns="0" rIns="0">
            <a:spAutoFit/>
          </a:bodyPr>
          <a:lstStyle/>
          <a:p>
            <a:pPr algn="ctr">
              <a:lnSpc>
                <a:spcPts val="12740"/>
              </a:lnSpc>
            </a:pPr>
            <a:r>
              <a:rPr lang="en-US" b="true" sz="9100">
                <a:solidFill>
                  <a:srgbClr val="000000"/>
                </a:solidFill>
                <a:latin typeface="Libra Serif Modern Bold"/>
                <a:ea typeface="Libra Serif Modern Bold"/>
                <a:cs typeface="Libra Serif Modern Bold"/>
                <a:sym typeface="Libra Serif Modern Bold"/>
              </a:rPr>
              <a:t>Proposed Functionalities</a:t>
            </a:r>
          </a:p>
        </p:txBody>
      </p:sp>
      <p:sp>
        <p:nvSpPr>
          <p:cNvPr name="TextBox 14" id="14"/>
          <p:cNvSpPr txBox="true"/>
          <p:nvPr/>
        </p:nvSpPr>
        <p:spPr>
          <a:xfrm rot="0">
            <a:off x="2414657" y="3820997"/>
            <a:ext cx="14333264" cy="48006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LoreQuick Medicine Search – Instantly search medicines by name.</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Medicine Information Retrieval – View manufacturer, dosage, and medicine details.</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Substitute Recommendation – Display available alternative medicines.</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Centralized Medicine Database – Store and manage pharmaceutical records efficiently.</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Fast &amp; Accurate Search – Reduce search time with reliable results.</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User-Friendly Interface – Simple and intuitive search experience.</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Efficient Medicine Management – Improve accessibility of medicine information for pharmacies and hospitals.</a:t>
            </a:r>
          </a:p>
          <a:p>
            <a:pPr algn="just">
              <a:lnSpc>
                <a:spcPts val="420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5E5F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1401144" cy="710439"/>
          </a:xfrm>
        </p:grpSpPr>
        <p:sp>
          <p:nvSpPr>
            <p:cNvPr name="Freeform 3" id="3"/>
            <p:cNvSpPr/>
            <p:nvPr/>
          </p:nvSpPr>
          <p:spPr>
            <a:xfrm flipH="false" flipV="false" rot="0">
              <a:off x="0" y="0"/>
              <a:ext cx="1401144" cy="710439"/>
            </a:xfrm>
            <a:custGeom>
              <a:avLst/>
              <a:gdLst/>
              <a:ahLst/>
              <a:cxnLst/>
              <a:rect r="r" b="b" t="t" l="l"/>
              <a:pathLst>
                <a:path h="710439" w="1401144">
                  <a:moveTo>
                    <a:pt x="9316" y="0"/>
                  </a:moveTo>
                  <a:lnTo>
                    <a:pt x="1391828" y="0"/>
                  </a:lnTo>
                  <a:cubicBezTo>
                    <a:pt x="1396973" y="0"/>
                    <a:pt x="1401144" y="4171"/>
                    <a:pt x="1401144" y="9316"/>
                  </a:cubicBezTo>
                  <a:lnTo>
                    <a:pt x="1401144" y="701123"/>
                  </a:lnTo>
                  <a:cubicBezTo>
                    <a:pt x="1401144" y="706268"/>
                    <a:pt x="1396973" y="710439"/>
                    <a:pt x="1391828" y="710439"/>
                  </a:cubicBezTo>
                  <a:lnTo>
                    <a:pt x="9316" y="710439"/>
                  </a:lnTo>
                  <a:cubicBezTo>
                    <a:pt x="4171" y="710439"/>
                    <a:pt x="0" y="706268"/>
                    <a:pt x="0" y="701123"/>
                  </a:cubicBezTo>
                  <a:lnTo>
                    <a:pt x="0" y="9316"/>
                  </a:lnTo>
                  <a:cubicBezTo>
                    <a:pt x="0" y="4171"/>
                    <a:pt x="4171" y="0"/>
                    <a:pt x="9316" y="0"/>
                  </a:cubicBezTo>
                  <a:close/>
                </a:path>
              </a:pathLst>
            </a:custGeom>
            <a:solidFill>
              <a:srgbClr val="E3F3FF">
                <a:alpha val="51765"/>
              </a:srgbClr>
            </a:solidFill>
          </p:spPr>
        </p:sp>
        <p:sp>
          <p:nvSpPr>
            <p:cNvPr name="TextBox 4" id="4"/>
            <p:cNvSpPr txBox="true"/>
            <p:nvPr/>
          </p:nvSpPr>
          <p:spPr>
            <a:xfrm>
              <a:off x="0" y="-38100"/>
              <a:ext cx="1401144" cy="74853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0">
            <a:off x="0" y="2859972"/>
            <a:ext cx="6228205" cy="7427028"/>
          </a:xfrm>
          <a:custGeom>
            <a:avLst/>
            <a:gdLst/>
            <a:ahLst/>
            <a:cxnLst/>
            <a:rect r="r" b="b" t="t" l="l"/>
            <a:pathLst>
              <a:path h="7427028" w="6228205">
                <a:moveTo>
                  <a:pt x="0" y="7427028"/>
                </a:moveTo>
                <a:lnTo>
                  <a:pt x="6228205" y="7427028"/>
                </a:lnTo>
                <a:lnTo>
                  <a:pt x="6228205" y="0"/>
                </a:lnTo>
                <a:lnTo>
                  <a:pt x="0" y="0"/>
                </a:lnTo>
                <a:lnTo>
                  <a:pt x="0" y="742702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165953" y="780456"/>
            <a:ext cx="1545192" cy="1588515"/>
          </a:xfrm>
          <a:custGeom>
            <a:avLst/>
            <a:gdLst/>
            <a:ahLst/>
            <a:cxnLst/>
            <a:rect r="r" b="b" t="t" l="l"/>
            <a:pathLst>
              <a:path h="1588515" w="1545192">
                <a:moveTo>
                  <a:pt x="0" y="0"/>
                </a:moveTo>
                <a:lnTo>
                  <a:pt x="1545192" y="0"/>
                </a:lnTo>
                <a:lnTo>
                  <a:pt x="1545192" y="1588514"/>
                </a:lnTo>
                <a:lnTo>
                  <a:pt x="0" y="1588514"/>
                </a:lnTo>
                <a:lnTo>
                  <a:pt x="0" y="0"/>
                </a:lnTo>
                <a:close/>
              </a:path>
            </a:pathLst>
          </a:custGeom>
          <a:blipFill>
            <a:blip r:embed="rId4"/>
            <a:stretch>
              <a:fillRect l="0" t="0" r="0" b="0"/>
            </a:stretch>
          </a:blipFill>
        </p:spPr>
      </p:sp>
      <p:sp>
        <p:nvSpPr>
          <p:cNvPr name="Freeform 7" id="7"/>
          <p:cNvSpPr/>
          <p:nvPr/>
        </p:nvSpPr>
        <p:spPr>
          <a:xfrm flipH="true" flipV="false" rot="0">
            <a:off x="607591" y="7396503"/>
            <a:ext cx="1772351" cy="2225476"/>
          </a:xfrm>
          <a:custGeom>
            <a:avLst/>
            <a:gdLst/>
            <a:ahLst/>
            <a:cxnLst/>
            <a:rect r="r" b="b" t="t" l="l"/>
            <a:pathLst>
              <a:path h="2225476" w="1772351">
                <a:moveTo>
                  <a:pt x="1772350" y="0"/>
                </a:moveTo>
                <a:lnTo>
                  <a:pt x="0" y="0"/>
                </a:lnTo>
                <a:lnTo>
                  <a:pt x="0" y="2225476"/>
                </a:lnTo>
                <a:lnTo>
                  <a:pt x="1772350" y="2225476"/>
                </a:lnTo>
                <a:lnTo>
                  <a:pt x="177235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4121879" y="6665537"/>
            <a:ext cx="5164513" cy="7048551"/>
            <a:chOff x="0" y="0"/>
            <a:chExt cx="558800" cy="762653"/>
          </a:xfrm>
        </p:grpSpPr>
        <p:sp>
          <p:nvSpPr>
            <p:cNvPr name="Freeform 9" id="9"/>
            <p:cNvSpPr/>
            <p:nvPr/>
          </p:nvSpPr>
          <p:spPr>
            <a:xfrm flipH="false" flipV="false" rot="0">
              <a:off x="0" y="0"/>
              <a:ext cx="558800" cy="762653"/>
            </a:xfrm>
            <a:custGeom>
              <a:avLst/>
              <a:gdLst/>
              <a:ahLst/>
              <a:cxnLst/>
              <a:rect r="r" b="b" t="t" l="l"/>
              <a:pathLst>
                <a:path h="762653" w="558800">
                  <a:moveTo>
                    <a:pt x="0" y="762653"/>
                  </a:moveTo>
                  <a:cubicBezTo>
                    <a:pt x="0" y="561800"/>
                    <a:pt x="59606" y="365401"/>
                    <a:pt x="163669" y="223376"/>
                  </a:cubicBezTo>
                  <a:cubicBezTo>
                    <a:pt x="267731" y="81351"/>
                    <a:pt x="411634" y="0"/>
                    <a:pt x="558800" y="0"/>
                  </a:cubicBezTo>
                  <a:lnTo>
                    <a:pt x="558800" y="389079"/>
                  </a:lnTo>
                  <a:cubicBezTo>
                    <a:pt x="486712" y="389079"/>
                    <a:pt x="416225" y="428928"/>
                    <a:pt x="365251" y="498496"/>
                  </a:cubicBezTo>
                  <a:cubicBezTo>
                    <a:pt x="314278" y="568065"/>
                    <a:pt x="285081" y="664267"/>
                    <a:pt x="285081" y="762653"/>
                  </a:cubicBezTo>
                  <a:lnTo>
                    <a:pt x="0" y="762653"/>
                  </a:lnTo>
                  <a:close/>
                </a:path>
              </a:pathLst>
            </a:custGeom>
            <a:solidFill>
              <a:srgbClr val="1689E2"/>
            </a:solidFill>
          </p:spPr>
        </p:sp>
        <p:sp>
          <p:nvSpPr>
            <p:cNvPr name="TextBox 10" id="10"/>
            <p:cNvSpPr txBox="true"/>
            <p:nvPr/>
          </p:nvSpPr>
          <p:spPr>
            <a:xfrm>
              <a:off x="127000" y="135230"/>
              <a:ext cx="304800" cy="45409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2756892" y="1359436"/>
            <a:ext cx="12774216" cy="1785619"/>
          </a:xfrm>
          <a:prstGeom prst="rect">
            <a:avLst/>
          </a:prstGeom>
        </p:spPr>
        <p:txBody>
          <a:bodyPr anchor="t" rtlCol="false" tIns="0" lIns="0" bIns="0" rIns="0">
            <a:spAutoFit/>
          </a:bodyPr>
          <a:lstStyle/>
          <a:p>
            <a:pPr algn="ctr">
              <a:lnSpc>
                <a:spcPts val="14140"/>
              </a:lnSpc>
              <a:spcBef>
                <a:spcPct val="0"/>
              </a:spcBef>
            </a:pPr>
            <a:r>
              <a:rPr lang="en-US" b="true" sz="10100">
                <a:solidFill>
                  <a:srgbClr val="000000"/>
                </a:solidFill>
                <a:latin typeface="Libra Serif Modern Bold"/>
                <a:ea typeface="Libra Serif Modern Bold"/>
                <a:cs typeface="Libra Serif Modern Bold"/>
                <a:sym typeface="Libra Serif Modern Bold"/>
              </a:rPr>
              <a:t>Tools And Technologies</a:t>
            </a:r>
          </a:p>
        </p:txBody>
      </p:sp>
      <p:graphicFrame>
        <p:nvGraphicFramePr>
          <p:cNvPr name="Table 12" id="12"/>
          <p:cNvGraphicFramePr>
            <a:graphicFrameLocks noGrp="true"/>
          </p:cNvGraphicFramePr>
          <p:nvPr/>
        </p:nvGraphicFramePr>
        <p:xfrm>
          <a:off x="5817208" y="3343874"/>
          <a:ext cx="8138885" cy="5572125"/>
        </p:xfrm>
        <a:graphic>
          <a:graphicData uri="http://schemas.openxmlformats.org/drawingml/2006/table">
            <a:tbl>
              <a:tblPr/>
              <a:tblGrid>
                <a:gridCol w="8138885"/>
              </a:tblGrid>
              <a:tr h="5572125">
                <a:tc>
                  <a:txBody>
                    <a:bodyPr anchor="t" rtlCol="false"/>
                    <a:lstStyle/>
                    <a:p>
                      <a:pPr algn="l" marL="647708" indent="-323854" lvl="1">
                        <a:lnSpc>
                          <a:spcPts val="4200"/>
                        </a:lnSpc>
                        <a:buFont typeface="Arial"/>
                        <a:buChar char="•"/>
                        <a:defRPr/>
                      </a:pPr>
                      <a:r>
                        <a:rPr lang="en-US" sz="3000">
                          <a:solidFill>
                            <a:srgbClr val="000000"/>
                          </a:solidFill>
                          <a:latin typeface="Canva Sans"/>
                          <a:ea typeface="Canva Sans"/>
                          <a:cs typeface="Canva Sans"/>
                          <a:sym typeface="Canva Sans"/>
                        </a:rPr>
                        <a:t> HTML – Frontend</a:t>
                      </a:r>
                      <a:endParaRPr lang="en-US" sz="1100"/>
                    </a:p>
                    <a:p>
                      <a:pPr algn="l" marL="647708" indent="-323854" lvl="1">
                        <a:lnSpc>
                          <a:spcPts val="4200"/>
                        </a:lnSpc>
                        <a:buFont typeface="Arial"/>
                        <a:buChar char="•"/>
                      </a:pPr>
                      <a:r>
                        <a:rPr lang="en-US" sz="3000">
                          <a:solidFill>
                            <a:srgbClr val="000000"/>
                          </a:solidFill>
                          <a:latin typeface="Canva Sans"/>
                          <a:ea typeface="Canva Sans"/>
                          <a:cs typeface="Canva Sans"/>
                          <a:sym typeface="Canva Sans"/>
                        </a:rPr>
                        <a:t>CSS – Styling</a:t>
                      </a:r>
                    </a:p>
                    <a:p>
                      <a:pPr algn="l" marL="647708" indent="-323854" lvl="1">
                        <a:lnSpc>
                          <a:spcPts val="4200"/>
                        </a:lnSpc>
                        <a:buFont typeface="Arial"/>
                        <a:buChar char="•"/>
                      </a:pPr>
                      <a:r>
                        <a:rPr lang="en-US" sz="3000">
                          <a:solidFill>
                            <a:srgbClr val="000000"/>
                          </a:solidFill>
                          <a:latin typeface="Canva Sans"/>
                          <a:ea typeface="Canva Sans"/>
                          <a:cs typeface="Canva Sans"/>
                          <a:sym typeface="Canva Sans"/>
                        </a:rPr>
                        <a:t>JavaScript – Client-side scripting</a:t>
                      </a:r>
                    </a:p>
                    <a:p>
                      <a:pPr algn="l" marL="647708" indent="-323854" lvl="1">
                        <a:lnSpc>
                          <a:spcPts val="4200"/>
                        </a:lnSpc>
                        <a:buFont typeface="Arial"/>
                        <a:buChar char="•"/>
                      </a:pPr>
                      <a:r>
                        <a:rPr lang="en-US" sz="3000">
                          <a:solidFill>
                            <a:srgbClr val="000000"/>
                          </a:solidFill>
                          <a:latin typeface="Canva Sans"/>
                          <a:ea typeface="Canva Sans"/>
                          <a:cs typeface="Canva Sans"/>
                          <a:sym typeface="Canva Sans"/>
                        </a:rPr>
                        <a:t>Python (Flask) – Backend</a:t>
                      </a:r>
                    </a:p>
                    <a:p>
                      <a:pPr algn="l" marL="647708" indent="-323854" lvl="1">
                        <a:lnSpc>
                          <a:spcPts val="4200"/>
                        </a:lnSpc>
                        <a:buFont typeface="Arial"/>
                        <a:buChar char="•"/>
                      </a:pPr>
                      <a:r>
                        <a:rPr lang="en-US" sz="3000">
                          <a:solidFill>
                            <a:srgbClr val="000000"/>
                          </a:solidFill>
                          <a:latin typeface="Canva Sans"/>
                          <a:ea typeface="Canva Sans"/>
                          <a:cs typeface="Canva Sans"/>
                          <a:sym typeface="Canva Sans"/>
                        </a:rPr>
                        <a:t>MySQL – Database</a:t>
                      </a:r>
                    </a:p>
                    <a:p>
                      <a:pPr algn="l" marL="647708" indent="-323854" lvl="1">
                        <a:lnSpc>
                          <a:spcPts val="4200"/>
                        </a:lnSpc>
                        <a:buFont typeface="Arial"/>
                        <a:buChar char="•"/>
                      </a:pPr>
                      <a:r>
                        <a:rPr lang="en-US" sz="3000">
                          <a:solidFill>
                            <a:srgbClr val="000000"/>
                          </a:solidFill>
                          <a:latin typeface="Canva Sans"/>
                          <a:ea typeface="Canva Sans"/>
                          <a:cs typeface="Canva Sans"/>
                          <a:sym typeface="Canva Sans"/>
                        </a:rPr>
                        <a:t>Visual Studio Code – Code Editor</a:t>
                      </a:r>
                    </a:p>
                    <a:p>
                      <a:pPr algn="l" marL="647708" indent="-323854" lvl="1">
                        <a:lnSpc>
                          <a:spcPts val="4200"/>
                        </a:lnSpc>
                        <a:buFont typeface="Arial"/>
                        <a:buChar char="•"/>
                      </a:pPr>
                      <a:r>
                        <a:rPr lang="en-US" sz="3000">
                          <a:solidFill>
                            <a:srgbClr val="000000"/>
                          </a:solidFill>
                          <a:latin typeface="Canva Sans"/>
                          <a:ea typeface="Canva Sans"/>
                          <a:cs typeface="Canva Sans"/>
                          <a:sym typeface="Canva Sans"/>
                        </a:rPr>
                        <a:t>MySQL Workbench – Database Management</a:t>
                      </a:r>
                    </a:p>
                    <a:p>
                      <a:pPr algn="l" marL="647708" indent="-323854" lvl="1">
                        <a:lnSpc>
                          <a:spcPts val="4200"/>
                        </a:lnSpc>
                        <a:buFont typeface="Arial"/>
                        <a:buChar char="•"/>
                      </a:pPr>
                      <a:r>
                        <a:rPr lang="en-US" sz="3000">
                          <a:solidFill>
                            <a:srgbClr val="000000"/>
                          </a:solidFill>
                          <a:latin typeface="Canva Sans"/>
                          <a:ea typeface="Canva Sans"/>
                          <a:cs typeface="Canva Sans"/>
                          <a:sym typeface="Canva Sans"/>
                        </a:rPr>
                        <a:t>Git &amp; GitHub – Version Control</a:t>
                      </a:r>
                    </a:p>
                    <a:p>
                      <a:pPr algn="l">
                        <a:lnSpc>
                          <a:spcPts val="4200"/>
                        </a:lnSpc>
                      </a:pPr>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5E5F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1401144" cy="710439"/>
          </a:xfrm>
        </p:grpSpPr>
        <p:sp>
          <p:nvSpPr>
            <p:cNvPr name="Freeform 3" id="3"/>
            <p:cNvSpPr/>
            <p:nvPr/>
          </p:nvSpPr>
          <p:spPr>
            <a:xfrm flipH="false" flipV="false" rot="0">
              <a:off x="0" y="0"/>
              <a:ext cx="1401144" cy="710439"/>
            </a:xfrm>
            <a:custGeom>
              <a:avLst/>
              <a:gdLst/>
              <a:ahLst/>
              <a:cxnLst/>
              <a:rect r="r" b="b" t="t" l="l"/>
              <a:pathLst>
                <a:path h="710439" w="1401144">
                  <a:moveTo>
                    <a:pt x="9316" y="0"/>
                  </a:moveTo>
                  <a:lnTo>
                    <a:pt x="1391828" y="0"/>
                  </a:lnTo>
                  <a:cubicBezTo>
                    <a:pt x="1396973" y="0"/>
                    <a:pt x="1401144" y="4171"/>
                    <a:pt x="1401144" y="9316"/>
                  </a:cubicBezTo>
                  <a:lnTo>
                    <a:pt x="1401144" y="701123"/>
                  </a:lnTo>
                  <a:cubicBezTo>
                    <a:pt x="1401144" y="706268"/>
                    <a:pt x="1396973" y="710439"/>
                    <a:pt x="1391828" y="710439"/>
                  </a:cubicBezTo>
                  <a:lnTo>
                    <a:pt x="9316" y="710439"/>
                  </a:lnTo>
                  <a:cubicBezTo>
                    <a:pt x="4171" y="710439"/>
                    <a:pt x="0" y="706268"/>
                    <a:pt x="0" y="701123"/>
                  </a:cubicBezTo>
                  <a:lnTo>
                    <a:pt x="0" y="9316"/>
                  </a:lnTo>
                  <a:cubicBezTo>
                    <a:pt x="0" y="4171"/>
                    <a:pt x="4171" y="0"/>
                    <a:pt x="9316" y="0"/>
                  </a:cubicBezTo>
                  <a:close/>
                </a:path>
              </a:pathLst>
            </a:custGeom>
            <a:solidFill>
              <a:srgbClr val="E3F3FF">
                <a:alpha val="51765"/>
              </a:srgbClr>
            </a:solidFill>
          </p:spPr>
        </p:sp>
        <p:sp>
          <p:nvSpPr>
            <p:cNvPr name="TextBox 4" id="4"/>
            <p:cNvSpPr txBox="true"/>
            <p:nvPr/>
          </p:nvSpPr>
          <p:spPr>
            <a:xfrm>
              <a:off x="0" y="-38100"/>
              <a:ext cx="1401144" cy="74853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028700"/>
            <a:ext cx="3157174" cy="4114800"/>
          </a:xfrm>
          <a:custGeom>
            <a:avLst/>
            <a:gdLst/>
            <a:ahLst/>
            <a:cxnLst/>
            <a:rect r="r" b="b" t="t" l="l"/>
            <a:pathLst>
              <a:path h="4114800" w="3157174">
                <a:moveTo>
                  <a:pt x="0" y="0"/>
                </a:moveTo>
                <a:lnTo>
                  <a:pt x="3157174" y="0"/>
                </a:lnTo>
                <a:lnTo>
                  <a:pt x="31571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947557" y="3421048"/>
            <a:ext cx="10392886" cy="53340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Enables quick and accurate medicine search.</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Provides complete medicine information, including manufacturer, dosage, and substitutes.</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Reduces the time required to locate medicine details.</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Improves efficiency in pharmacies and hospitals through a centralized database.</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Supports better decision-making with reliable pharmaceutical information.</a:t>
            </a:r>
          </a:p>
          <a:p>
            <a:pPr algn="just" marL="647700" indent="-323850" lvl="1">
              <a:lnSpc>
                <a:spcPts val="4200"/>
              </a:lnSpc>
              <a:buFont typeface="Arial"/>
              <a:buChar char="•"/>
            </a:pPr>
            <a:r>
              <a:rPr lang="en-US" sz="3000">
                <a:solidFill>
                  <a:srgbClr val="000000"/>
                </a:solidFill>
                <a:latin typeface="Libra Serif Modern"/>
                <a:ea typeface="Libra Serif Modern"/>
                <a:cs typeface="Libra Serif Modern"/>
                <a:sym typeface="Libra Serif Modern"/>
              </a:rPr>
              <a:t>Enhances medicine management and user productivity.</a:t>
            </a:r>
          </a:p>
          <a:p>
            <a:pPr algn="just">
              <a:lnSpc>
                <a:spcPts val="4200"/>
              </a:lnSpc>
              <a:spcBef>
                <a:spcPct val="0"/>
              </a:spcBef>
            </a:pPr>
            <a:r>
              <a:rPr lang="en-US" sz="3000">
                <a:solidFill>
                  <a:srgbClr val="000000"/>
                </a:solidFill>
                <a:latin typeface="Libra Serif Modern"/>
                <a:ea typeface="Libra Serif Modern"/>
                <a:cs typeface="Libra Serif Modern"/>
                <a:sym typeface="Libra Serif Modern"/>
              </a:rPr>
              <a:t> </a:t>
            </a:r>
          </a:p>
        </p:txBody>
      </p:sp>
      <p:sp>
        <p:nvSpPr>
          <p:cNvPr name="Freeform 7" id="7"/>
          <p:cNvSpPr/>
          <p:nvPr/>
        </p:nvSpPr>
        <p:spPr>
          <a:xfrm flipH="false" flipV="true" rot="0">
            <a:off x="0" y="4525948"/>
            <a:ext cx="4831140" cy="5761052"/>
          </a:xfrm>
          <a:custGeom>
            <a:avLst/>
            <a:gdLst/>
            <a:ahLst/>
            <a:cxnLst/>
            <a:rect r="r" b="b" t="t" l="l"/>
            <a:pathLst>
              <a:path h="5761052" w="4831140">
                <a:moveTo>
                  <a:pt x="0" y="5761052"/>
                </a:moveTo>
                <a:lnTo>
                  <a:pt x="4831140" y="5761052"/>
                </a:lnTo>
                <a:lnTo>
                  <a:pt x="4831140" y="0"/>
                </a:lnTo>
                <a:lnTo>
                  <a:pt x="0" y="0"/>
                </a:lnTo>
                <a:lnTo>
                  <a:pt x="0" y="5761052"/>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4121879" y="6665537"/>
            <a:ext cx="5164513" cy="7048551"/>
            <a:chOff x="0" y="0"/>
            <a:chExt cx="558800" cy="762653"/>
          </a:xfrm>
        </p:grpSpPr>
        <p:sp>
          <p:nvSpPr>
            <p:cNvPr name="Freeform 9" id="9"/>
            <p:cNvSpPr/>
            <p:nvPr/>
          </p:nvSpPr>
          <p:spPr>
            <a:xfrm flipH="false" flipV="false" rot="0">
              <a:off x="0" y="0"/>
              <a:ext cx="558800" cy="762653"/>
            </a:xfrm>
            <a:custGeom>
              <a:avLst/>
              <a:gdLst/>
              <a:ahLst/>
              <a:cxnLst/>
              <a:rect r="r" b="b" t="t" l="l"/>
              <a:pathLst>
                <a:path h="762653" w="558800">
                  <a:moveTo>
                    <a:pt x="0" y="762653"/>
                  </a:moveTo>
                  <a:cubicBezTo>
                    <a:pt x="0" y="561800"/>
                    <a:pt x="59606" y="365401"/>
                    <a:pt x="163669" y="223376"/>
                  </a:cubicBezTo>
                  <a:cubicBezTo>
                    <a:pt x="267731" y="81351"/>
                    <a:pt x="411634" y="0"/>
                    <a:pt x="558800" y="0"/>
                  </a:cubicBezTo>
                  <a:lnTo>
                    <a:pt x="558800" y="389079"/>
                  </a:lnTo>
                  <a:cubicBezTo>
                    <a:pt x="486712" y="389079"/>
                    <a:pt x="416225" y="428928"/>
                    <a:pt x="365251" y="498496"/>
                  </a:cubicBezTo>
                  <a:cubicBezTo>
                    <a:pt x="314278" y="568065"/>
                    <a:pt x="285081" y="664267"/>
                    <a:pt x="285081" y="762653"/>
                  </a:cubicBezTo>
                  <a:lnTo>
                    <a:pt x="0" y="762653"/>
                  </a:lnTo>
                  <a:close/>
                </a:path>
              </a:pathLst>
            </a:custGeom>
            <a:solidFill>
              <a:srgbClr val="51BD8B"/>
            </a:solidFill>
          </p:spPr>
        </p:sp>
        <p:sp>
          <p:nvSpPr>
            <p:cNvPr name="TextBox 10" id="10"/>
            <p:cNvSpPr txBox="true"/>
            <p:nvPr/>
          </p:nvSpPr>
          <p:spPr>
            <a:xfrm>
              <a:off x="127000" y="135230"/>
              <a:ext cx="304800" cy="45409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5040983" y="4874267"/>
            <a:ext cx="1663153" cy="1360761"/>
          </a:xfrm>
          <a:custGeom>
            <a:avLst/>
            <a:gdLst/>
            <a:ahLst/>
            <a:cxnLst/>
            <a:rect r="r" b="b" t="t" l="l"/>
            <a:pathLst>
              <a:path h="1360761" w="1663153">
                <a:moveTo>
                  <a:pt x="0" y="0"/>
                </a:moveTo>
                <a:lnTo>
                  <a:pt x="1663153" y="0"/>
                </a:lnTo>
                <a:lnTo>
                  <a:pt x="1663153" y="1360762"/>
                </a:lnTo>
                <a:lnTo>
                  <a:pt x="0" y="13607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598572" y="1300481"/>
            <a:ext cx="10002322" cy="1785619"/>
          </a:xfrm>
          <a:prstGeom prst="rect">
            <a:avLst/>
          </a:prstGeom>
        </p:spPr>
        <p:txBody>
          <a:bodyPr anchor="t" rtlCol="false" tIns="0" lIns="0" bIns="0" rIns="0">
            <a:spAutoFit/>
          </a:bodyPr>
          <a:lstStyle/>
          <a:p>
            <a:pPr algn="ctr">
              <a:lnSpc>
                <a:spcPts val="14140"/>
              </a:lnSpc>
              <a:spcBef>
                <a:spcPct val="0"/>
              </a:spcBef>
            </a:pPr>
            <a:r>
              <a:rPr lang="en-US" b="true" sz="10100">
                <a:solidFill>
                  <a:srgbClr val="000000"/>
                </a:solidFill>
                <a:latin typeface="Libra Serif Modern Bold"/>
                <a:ea typeface="Libra Serif Modern Bold"/>
                <a:cs typeface="Libra Serif Modern Bold"/>
                <a:sym typeface="Libra Serif Modern Bold"/>
              </a:rPr>
              <a:t>Expected outcome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5E5FE"/>
        </a:solidFill>
      </p:bgPr>
    </p:bg>
    <p:spTree>
      <p:nvGrpSpPr>
        <p:cNvPr id="1" name=""/>
        <p:cNvGrpSpPr/>
        <p:nvPr/>
      </p:nvGrpSpPr>
      <p:grpSpPr>
        <a:xfrm>
          <a:off x="0" y="0"/>
          <a:ext cx="0" cy="0"/>
          <a:chOff x="0" y="0"/>
          <a:chExt cx="0" cy="0"/>
        </a:xfrm>
      </p:grpSpPr>
      <p:sp>
        <p:nvSpPr>
          <p:cNvPr name="Freeform 2" id="2"/>
          <p:cNvSpPr/>
          <p:nvPr/>
        </p:nvSpPr>
        <p:spPr>
          <a:xfrm flipH="true" flipV="true" rot="-5400000">
            <a:off x="13678554" y="-404673"/>
            <a:ext cx="4204772" cy="5014119"/>
          </a:xfrm>
          <a:custGeom>
            <a:avLst/>
            <a:gdLst/>
            <a:ahLst/>
            <a:cxnLst/>
            <a:rect r="r" b="b" t="t" l="l"/>
            <a:pathLst>
              <a:path h="5014119" w="4204772">
                <a:moveTo>
                  <a:pt x="4204773" y="5014119"/>
                </a:moveTo>
                <a:lnTo>
                  <a:pt x="0" y="5014119"/>
                </a:lnTo>
                <a:lnTo>
                  <a:pt x="0" y="0"/>
                </a:lnTo>
                <a:lnTo>
                  <a:pt x="4204773" y="0"/>
                </a:lnTo>
                <a:lnTo>
                  <a:pt x="4204773" y="5014119"/>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16230600" cy="8229600"/>
            <a:chOff x="0" y="0"/>
            <a:chExt cx="1401144" cy="710439"/>
          </a:xfrm>
        </p:grpSpPr>
        <p:sp>
          <p:nvSpPr>
            <p:cNvPr name="Freeform 4" id="4"/>
            <p:cNvSpPr/>
            <p:nvPr/>
          </p:nvSpPr>
          <p:spPr>
            <a:xfrm flipH="false" flipV="false" rot="0">
              <a:off x="0" y="0"/>
              <a:ext cx="1401144" cy="710439"/>
            </a:xfrm>
            <a:custGeom>
              <a:avLst/>
              <a:gdLst/>
              <a:ahLst/>
              <a:cxnLst/>
              <a:rect r="r" b="b" t="t" l="l"/>
              <a:pathLst>
                <a:path h="710439" w="1401144">
                  <a:moveTo>
                    <a:pt x="9316" y="0"/>
                  </a:moveTo>
                  <a:lnTo>
                    <a:pt x="1391828" y="0"/>
                  </a:lnTo>
                  <a:cubicBezTo>
                    <a:pt x="1396973" y="0"/>
                    <a:pt x="1401144" y="4171"/>
                    <a:pt x="1401144" y="9316"/>
                  </a:cubicBezTo>
                  <a:lnTo>
                    <a:pt x="1401144" y="701123"/>
                  </a:lnTo>
                  <a:cubicBezTo>
                    <a:pt x="1401144" y="706268"/>
                    <a:pt x="1396973" y="710439"/>
                    <a:pt x="1391828" y="710439"/>
                  </a:cubicBezTo>
                  <a:lnTo>
                    <a:pt x="9316" y="710439"/>
                  </a:lnTo>
                  <a:cubicBezTo>
                    <a:pt x="4171" y="710439"/>
                    <a:pt x="0" y="706268"/>
                    <a:pt x="0" y="701123"/>
                  </a:cubicBezTo>
                  <a:lnTo>
                    <a:pt x="0" y="9316"/>
                  </a:lnTo>
                  <a:cubicBezTo>
                    <a:pt x="0" y="4171"/>
                    <a:pt x="4171" y="0"/>
                    <a:pt x="9316" y="0"/>
                  </a:cubicBezTo>
                  <a:close/>
                </a:path>
              </a:pathLst>
            </a:custGeom>
            <a:solidFill>
              <a:srgbClr val="E3F3FF">
                <a:alpha val="51765"/>
              </a:srgbClr>
            </a:solidFill>
          </p:spPr>
        </p:sp>
        <p:sp>
          <p:nvSpPr>
            <p:cNvPr name="TextBox 5" id="5"/>
            <p:cNvSpPr txBox="true"/>
            <p:nvPr/>
          </p:nvSpPr>
          <p:spPr>
            <a:xfrm>
              <a:off x="0" y="-38100"/>
              <a:ext cx="1401144" cy="74853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5400000">
            <a:off x="404673" y="5677554"/>
            <a:ext cx="4204772" cy="5014119"/>
          </a:xfrm>
          <a:custGeom>
            <a:avLst/>
            <a:gdLst/>
            <a:ahLst/>
            <a:cxnLst/>
            <a:rect r="r" b="b" t="t" l="l"/>
            <a:pathLst>
              <a:path h="5014119" w="4204772">
                <a:moveTo>
                  <a:pt x="0" y="0"/>
                </a:moveTo>
                <a:lnTo>
                  <a:pt x="4204773" y="0"/>
                </a:lnTo>
                <a:lnTo>
                  <a:pt x="4204773" y="5014119"/>
                </a:lnTo>
                <a:lnTo>
                  <a:pt x="0" y="50141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924867" y="6082228"/>
            <a:ext cx="3164385" cy="3025532"/>
          </a:xfrm>
          <a:custGeom>
            <a:avLst/>
            <a:gdLst/>
            <a:ahLst/>
            <a:cxnLst/>
            <a:rect r="r" b="b" t="t" l="l"/>
            <a:pathLst>
              <a:path h="3025532" w="3164385">
                <a:moveTo>
                  <a:pt x="3164385" y="0"/>
                </a:moveTo>
                <a:lnTo>
                  <a:pt x="0" y="0"/>
                </a:lnTo>
                <a:lnTo>
                  <a:pt x="0" y="3025532"/>
                </a:lnTo>
                <a:lnTo>
                  <a:pt x="3164385" y="3025532"/>
                </a:lnTo>
                <a:lnTo>
                  <a:pt x="316438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548688" y="9028435"/>
            <a:ext cx="960024" cy="1118672"/>
          </a:xfrm>
          <a:custGeom>
            <a:avLst/>
            <a:gdLst/>
            <a:ahLst/>
            <a:cxnLst/>
            <a:rect r="r" b="b" t="t" l="l"/>
            <a:pathLst>
              <a:path h="1118672" w="960024">
                <a:moveTo>
                  <a:pt x="0" y="0"/>
                </a:moveTo>
                <a:lnTo>
                  <a:pt x="960024" y="0"/>
                </a:lnTo>
                <a:lnTo>
                  <a:pt x="960024" y="1118673"/>
                </a:lnTo>
                <a:lnTo>
                  <a:pt x="0" y="1118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5400000">
            <a:off x="16779288" y="469364"/>
            <a:ext cx="960024" cy="1118672"/>
          </a:xfrm>
          <a:custGeom>
            <a:avLst/>
            <a:gdLst/>
            <a:ahLst/>
            <a:cxnLst/>
            <a:rect r="r" b="b" t="t" l="l"/>
            <a:pathLst>
              <a:path h="1118672" w="960024">
                <a:moveTo>
                  <a:pt x="0" y="0"/>
                </a:moveTo>
                <a:lnTo>
                  <a:pt x="960024" y="0"/>
                </a:lnTo>
                <a:lnTo>
                  <a:pt x="960024" y="1118672"/>
                </a:lnTo>
                <a:lnTo>
                  <a:pt x="0" y="1118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5596906">
            <a:off x="14628974" y="133844"/>
            <a:ext cx="3594965" cy="3523066"/>
          </a:xfrm>
          <a:custGeom>
            <a:avLst/>
            <a:gdLst/>
            <a:ahLst/>
            <a:cxnLst/>
            <a:rect r="r" b="b" t="t" l="l"/>
            <a:pathLst>
              <a:path h="3523066" w="3594965">
                <a:moveTo>
                  <a:pt x="0" y="0"/>
                </a:moveTo>
                <a:lnTo>
                  <a:pt x="3594965" y="0"/>
                </a:lnTo>
                <a:lnTo>
                  <a:pt x="3594965" y="3523065"/>
                </a:lnTo>
                <a:lnTo>
                  <a:pt x="0" y="35230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6168893">
            <a:off x="3117453" y="8698964"/>
            <a:ext cx="1320321" cy="1118672"/>
          </a:xfrm>
          <a:custGeom>
            <a:avLst/>
            <a:gdLst/>
            <a:ahLst/>
            <a:cxnLst/>
            <a:rect r="r" b="b" t="t" l="l"/>
            <a:pathLst>
              <a:path h="1118672" w="1320321">
                <a:moveTo>
                  <a:pt x="0" y="0"/>
                </a:moveTo>
                <a:lnTo>
                  <a:pt x="1320321" y="0"/>
                </a:lnTo>
                <a:lnTo>
                  <a:pt x="1320321" y="1118672"/>
                </a:lnTo>
                <a:lnTo>
                  <a:pt x="0" y="11186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6039803" y="8184614"/>
            <a:ext cx="1320321" cy="1118672"/>
          </a:xfrm>
          <a:custGeom>
            <a:avLst/>
            <a:gdLst/>
            <a:ahLst/>
            <a:cxnLst/>
            <a:rect r="r" b="b" t="t" l="l"/>
            <a:pathLst>
              <a:path h="1118672" w="1320321">
                <a:moveTo>
                  <a:pt x="0" y="0"/>
                </a:moveTo>
                <a:lnTo>
                  <a:pt x="1320322" y="0"/>
                </a:lnTo>
                <a:lnTo>
                  <a:pt x="1320322" y="1118672"/>
                </a:lnTo>
                <a:lnTo>
                  <a:pt x="0" y="11186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6801751">
            <a:off x="207094" y="10648"/>
            <a:ext cx="2761885" cy="2996128"/>
          </a:xfrm>
          <a:custGeom>
            <a:avLst/>
            <a:gdLst/>
            <a:ahLst/>
            <a:cxnLst/>
            <a:rect r="r" b="b" t="t" l="l"/>
            <a:pathLst>
              <a:path h="2996128" w="2761885">
                <a:moveTo>
                  <a:pt x="0" y="0"/>
                </a:moveTo>
                <a:lnTo>
                  <a:pt x="2761885" y="0"/>
                </a:lnTo>
                <a:lnTo>
                  <a:pt x="2761885" y="2996128"/>
                </a:lnTo>
                <a:lnTo>
                  <a:pt x="0" y="29961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4828148" y="3103791"/>
            <a:ext cx="7124213" cy="2110162"/>
          </a:xfrm>
          <a:prstGeom prst="rect">
            <a:avLst/>
          </a:prstGeom>
        </p:spPr>
        <p:txBody>
          <a:bodyPr anchor="t" rtlCol="false" tIns="0" lIns="0" bIns="0" rIns="0">
            <a:spAutoFit/>
          </a:bodyPr>
          <a:lstStyle/>
          <a:p>
            <a:pPr algn="ctr">
              <a:lnSpc>
                <a:spcPts val="16660"/>
              </a:lnSpc>
              <a:spcBef>
                <a:spcPct val="0"/>
              </a:spcBef>
            </a:pPr>
            <a:r>
              <a:rPr lang="en-US" b="true" sz="11900">
                <a:solidFill>
                  <a:srgbClr val="000000"/>
                </a:solidFill>
                <a:latin typeface="Libra Serif Modern Bold"/>
                <a:ea typeface="Libra Serif Modern Bold"/>
                <a:cs typeface="Libra Serif Modern Bold"/>
                <a:sym typeface="Libra Serif Modern Bold"/>
              </a:rPr>
              <a:t>Thank You</a:t>
            </a:r>
          </a:p>
        </p:txBody>
      </p:sp>
      <p:sp>
        <p:nvSpPr>
          <p:cNvPr name="AutoShape 15" id="15"/>
          <p:cNvSpPr/>
          <p:nvPr/>
        </p:nvSpPr>
        <p:spPr>
          <a:xfrm>
            <a:off x="6193758" y="6056935"/>
            <a:ext cx="2196497" cy="0"/>
          </a:xfrm>
          <a:prstGeom prst="line">
            <a:avLst/>
          </a:prstGeom>
          <a:ln cap="flat" w="38100">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DAHRBh7YX2s</dc:identifier>
  <dcterms:modified xsi:type="dcterms:W3CDTF">2011-08-01T06:04:30Z</dcterms:modified>
  <cp:revision>1</cp:revision>
  <dc:title>Blue Light Blue Modern Creative Pharmacy Presentation</dc:title>
</cp:coreProperties>
</file>