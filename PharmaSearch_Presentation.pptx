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A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BA3"/>
                </a:solidFill>
              </a:rPr>
              <a:t>PharmaSearch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circle 1"/>
          <p:cNvSpPr/>
          <p:nvPr/>
        </p:nvSpPr>
        <p:spPr>
          <a:xfrm>
            <a:off x="6035040" y="-1280160"/>
            <a:ext cx="4572000" cy="4572000"/>
          </a:xfrm>
          <a:prstGeom prst="ellipse">
            <a:avLst/>
          </a:prstGeom>
          <a:solidFill>
            <a:srgbClr val="1478E0">
              <a:alpha val="30000"/>
            </a:srgbClr>
          </a:solidFill>
          <a:ln w="12700">
            <a:solidFill>
              <a:srgbClr val="1478E0">
                <a:alpha val="0"/>
              </a:srgbClr>
            </a:solidFill>
            <a:prstDash val="solid"/>
          </a:ln>
        </p:spPr>
      </p:sp>
      <p:sp>
        <p:nvSpPr>
          <p:cNvPr id="3" name="bg circle 2"/>
          <p:cNvSpPr/>
          <p:nvPr/>
        </p:nvSpPr>
        <p:spPr>
          <a:xfrm>
            <a:off x="-1097280" y="3291840"/>
            <a:ext cx="3108960" cy="3108960"/>
          </a:xfrm>
          <a:prstGeom prst="ellipse">
            <a:avLst/>
          </a:prstGeom>
          <a:solidFill>
            <a:srgbClr val="2FB67C">
              <a:alpha val="25000"/>
            </a:srgbClr>
          </a:solidFill>
          <a:ln w="12700">
            <a:solidFill>
              <a:srgbClr val="2FB67C">
                <a:alpha val="0"/>
              </a:srgbClr>
            </a:solidFill>
            <a:prstDash val="solid"/>
          </a:ln>
        </p:spPr>
      </p:sp>
      <p:sp>
        <p:nvSpPr>
          <p:cNvPr id="4" name="pill icon circle"/>
          <p:cNvSpPr/>
          <p:nvPr/>
        </p:nvSpPr>
        <p:spPr>
          <a:xfrm>
            <a:off x="548640" y="548640"/>
            <a:ext cx="731520" cy="731520"/>
          </a:xfrm>
          <a:prstGeom prst="ellipse">
            <a:avLst/>
          </a:prstGeom>
          <a:solidFill>
            <a:srgbClr val="1478E0"/>
          </a:solidFill>
          <a:ln w="12700">
            <a:solidFill>
              <a:srgbClr val="1478E0"/>
            </a:solidFill>
            <a:prstDash val="solid"/>
          </a:ln>
        </p:spPr>
      </p:sp>
      <p:pic>
        <p:nvPicPr>
          <p:cNvPr id="5" name="pill icon" descr="pill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4173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PharmaSearch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86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EC5FF"/>
                </a:solidFill>
              </a:rPr>
              <a:t>Smart Pharmacy Search and Inventory Management Platform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Academic Project</a:t>
            </a:r>
            <a:endParaRPr lang="en-US" sz="1400" dirty="0"/>
          </a:p>
        </p:txBody>
      </p:sp>
      <p:sp>
        <p:nvSpPr>
          <p:cNvPr id="9" name="team card"/>
          <p:cNvSpPr/>
          <p:nvPr/>
        </p:nvSpPr>
        <p:spPr>
          <a:xfrm>
            <a:off x="5486400" y="1097280"/>
            <a:ext cx="32004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76072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478E0"/>
                </a:solidFill>
              </a:rPr>
              <a:t>TEAM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76072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P. Asritha Chowdary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2148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BA3"/>
                </a:solidFill>
              </a:rPr>
              <a:t>2520030592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760720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Y. Akshaya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760720" y="29260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BA3"/>
                </a:solidFill>
              </a:rPr>
              <a:t>2520030072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76072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Kommalapati Rishitha Chowdary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3703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BA3"/>
                </a:solidFill>
              </a:rPr>
              <a:t>2520030202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3" name="abstract card"/>
          <p:cNvSpPr/>
          <p:nvPr/>
        </p:nvSpPr>
        <p:spPr>
          <a:xfrm>
            <a:off x="457200" y="1097280"/>
            <a:ext cx="41148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PharmaSearch is a web-based pharmacy platform that helps customers find medicines quickly and helps administrators control stock. Search stays accurate even when a medicine name is mistyped.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926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Every search, suggestion and receipt is powered by algorithms written from scratch, with no library search helpers. All data is kept in the browser, so no backend is needed.</a:t>
            </a:r>
            <a:endParaRPr lang="en-US" sz="1400" dirty="0"/>
          </a:p>
        </p:txBody>
      </p:sp>
      <p:sp>
        <p:nvSpPr>
          <p:cNvPr id="6" name="feature card 1"/>
          <p:cNvSpPr/>
          <p:nvPr/>
        </p:nvSpPr>
        <p:spPr>
          <a:xfrm>
            <a:off x="4846320" y="1097280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7" name="Fuzzy search icon circle"/>
          <p:cNvSpPr/>
          <p:nvPr/>
        </p:nvSpPr>
        <p:spPr>
          <a:xfrm>
            <a:off x="4983480" y="1371600"/>
            <a:ext cx="502920" cy="502920"/>
          </a:xfrm>
          <a:prstGeom prst="ellipse">
            <a:avLst/>
          </a:prstGeom>
          <a:solidFill>
            <a:srgbClr val="1478E0"/>
          </a:solidFill>
          <a:ln w="12700">
            <a:solidFill>
              <a:srgbClr val="1478E0"/>
            </a:solidFill>
            <a:prstDash val="solid"/>
          </a:ln>
        </p:spPr>
      </p:sp>
      <p:pic>
        <p:nvPicPr>
          <p:cNvPr id="8" name="Fuzzy search icon" descr="Fuzzy search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9210" y="1497330"/>
            <a:ext cx="251460" cy="2514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577840" y="12801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Fuzzy search</a:t>
            </a:r>
            <a:endParaRPr lang="en-US" sz="1400" dirty="0"/>
          </a:p>
        </p:txBody>
      </p:sp>
      <p:sp>
        <p:nvSpPr>
          <p:cNvPr id="10" name="feature card 2"/>
          <p:cNvSpPr/>
          <p:nvPr/>
        </p:nvSpPr>
        <p:spPr>
          <a:xfrm>
            <a:off x="6949440" y="1097280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1" name="Alternatives icon circle"/>
          <p:cNvSpPr/>
          <p:nvPr/>
        </p:nvSpPr>
        <p:spPr>
          <a:xfrm>
            <a:off x="7086600" y="1371600"/>
            <a:ext cx="502920" cy="502920"/>
          </a:xfrm>
          <a:prstGeom prst="ellipse">
            <a:avLst/>
          </a:prstGeom>
          <a:solidFill>
            <a:srgbClr val="1478E0"/>
          </a:solidFill>
          <a:ln w="12700">
            <a:solidFill>
              <a:srgbClr val="1478E0"/>
            </a:solidFill>
            <a:prstDash val="solid"/>
          </a:ln>
        </p:spPr>
      </p:sp>
      <p:pic>
        <p:nvPicPr>
          <p:cNvPr id="12" name="Alternatives icon" descr="Alternative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2330" y="149733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80960" y="12801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Alternatives</a:t>
            </a:r>
            <a:endParaRPr lang="en-US" sz="1400" dirty="0"/>
          </a:p>
        </p:txBody>
      </p:sp>
      <p:sp>
        <p:nvSpPr>
          <p:cNvPr id="14" name="feature card 3"/>
          <p:cNvSpPr/>
          <p:nvPr/>
        </p:nvSpPr>
        <p:spPr>
          <a:xfrm>
            <a:off x="4846320" y="2286000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5" name="Stock control icon circle"/>
          <p:cNvSpPr/>
          <p:nvPr/>
        </p:nvSpPr>
        <p:spPr>
          <a:xfrm>
            <a:off x="4983480" y="2560320"/>
            <a:ext cx="502920" cy="502920"/>
          </a:xfrm>
          <a:prstGeom prst="ellipse">
            <a:avLst/>
          </a:prstGeom>
          <a:solidFill>
            <a:srgbClr val="1478E0"/>
          </a:solidFill>
          <a:ln w="12700">
            <a:solidFill>
              <a:srgbClr val="1478E0"/>
            </a:solidFill>
            <a:prstDash val="solid"/>
          </a:ln>
        </p:spPr>
      </p:sp>
      <p:pic>
        <p:nvPicPr>
          <p:cNvPr id="16" name="Stock control icon" descr="Stock control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210" y="2686050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577840" y="24688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Stock control</a:t>
            </a:r>
            <a:endParaRPr lang="en-US" sz="1400" dirty="0"/>
          </a:p>
        </p:txBody>
      </p:sp>
      <p:sp>
        <p:nvSpPr>
          <p:cNvPr id="18" name="feature card 4"/>
          <p:cNvSpPr/>
          <p:nvPr/>
        </p:nvSpPr>
        <p:spPr>
          <a:xfrm>
            <a:off x="6949440" y="2286000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9" name="Analytics icon circle"/>
          <p:cNvSpPr/>
          <p:nvPr/>
        </p:nvSpPr>
        <p:spPr>
          <a:xfrm>
            <a:off x="7086600" y="2560320"/>
            <a:ext cx="502920" cy="502920"/>
          </a:xfrm>
          <a:prstGeom prst="ellipse">
            <a:avLst/>
          </a:prstGeom>
          <a:solidFill>
            <a:srgbClr val="1478E0"/>
          </a:solidFill>
          <a:ln w="12700">
            <a:solidFill>
              <a:srgbClr val="1478E0"/>
            </a:solidFill>
            <a:prstDash val="solid"/>
          </a:ln>
        </p:spPr>
      </p:sp>
      <p:pic>
        <p:nvPicPr>
          <p:cNvPr id="20" name="Analytics icon" descr="Analytic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330" y="2686050"/>
            <a:ext cx="251460" cy="2514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680960" y="24688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Analytics</a:t>
            </a:r>
            <a:endParaRPr lang="en-US" sz="1400" dirty="0"/>
          </a:p>
        </p:txBody>
      </p:sp>
      <p:sp>
        <p:nvSpPr>
          <p:cNvPr id="22" name="feature card 5"/>
          <p:cNvSpPr/>
          <p:nvPr/>
        </p:nvSpPr>
        <p:spPr>
          <a:xfrm>
            <a:off x="4846320" y="3474720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3" name="Favourites icon circle"/>
          <p:cNvSpPr/>
          <p:nvPr/>
        </p:nvSpPr>
        <p:spPr>
          <a:xfrm>
            <a:off x="4983480" y="3749040"/>
            <a:ext cx="502920" cy="502920"/>
          </a:xfrm>
          <a:prstGeom prst="ellipse">
            <a:avLst/>
          </a:prstGeom>
          <a:solidFill>
            <a:srgbClr val="1478E0"/>
          </a:solidFill>
          <a:ln w="12700">
            <a:solidFill>
              <a:srgbClr val="1478E0"/>
            </a:solidFill>
            <a:prstDash val="solid"/>
          </a:ln>
        </p:spPr>
      </p:sp>
      <p:pic>
        <p:nvPicPr>
          <p:cNvPr id="24" name="Favourites icon" descr="Favourites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9210" y="3874770"/>
            <a:ext cx="251460" cy="2514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77840" y="36576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Favourites</a:t>
            </a:r>
            <a:endParaRPr lang="en-US" sz="1400" dirty="0"/>
          </a:p>
        </p:txBody>
      </p:sp>
      <p:sp>
        <p:nvSpPr>
          <p:cNvPr id="26" name="feature card 6"/>
          <p:cNvSpPr/>
          <p:nvPr/>
        </p:nvSpPr>
        <p:spPr>
          <a:xfrm>
            <a:off x="6949440" y="3474720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7" name="Dark mode icon circle"/>
          <p:cNvSpPr/>
          <p:nvPr/>
        </p:nvSpPr>
        <p:spPr>
          <a:xfrm>
            <a:off x="7086600" y="3749040"/>
            <a:ext cx="502920" cy="502920"/>
          </a:xfrm>
          <a:prstGeom prst="ellipse">
            <a:avLst/>
          </a:prstGeom>
          <a:solidFill>
            <a:srgbClr val="1478E0"/>
          </a:solidFill>
          <a:ln w="12700">
            <a:solidFill>
              <a:srgbClr val="1478E0"/>
            </a:solidFill>
            <a:prstDash val="solid"/>
          </a:ln>
        </p:spPr>
      </p:sp>
      <p:pic>
        <p:nvPicPr>
          <p:cNvPr id="28" name="Dark mode icon" descr="Dark mod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2330" y="3874770"/>
            <a:ext cx="251460" cy="25146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680960" y="36576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</a:rPr>
              <a:t>Dark mode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097280"/>
            <a:ext cx="457200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4" name="Spelling mistakes icon circle"/>
          <p:cNvSpPr/>
          <p:nvPr/>
        </p:nvSpPr>
        <p:spPr>
          <a:xfrm>
            <a:off x="731520" y="1325880"/>
            <a:ext cx="594360" cy="594360"/>
          </a:xfrm>
          <a:prstGeom prst="ellips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</p:sp>
      <p:pic>
        <p:nvPicPr>
          <p:cNvPr id="5" name="Spelling mistakes icon" descr="Spelling mistake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47447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28016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Spelling mistakes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A mistyped name gives no result.</a:t>
            </a:r>
            <a:endParaRPr lang="en-US" sz="1600" dirty="0"/>
          </a:p>
        </p:txBody>
      </p:sp>
      <p:sp>
        <p:nvSpPr>
          <p:cNvPr id="7" name="Hard to track stock icon circle"/>
          <p:cNvSpPr/>
          <p:nvPr/>
        </p:nvSpPr>
        <p:spPr>
          <a:xfrm>
            <a:off x="731520" y="2377440"/>
            <a:ext cx="594360" cy="594360"/>
          </a:xfrm>
          <a:prstGeom prst="ellips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</p:sp>
      <p:pic>
        <p:nvPicPr>
          <p:cNvPr id="8" name="Hard to track stock icon" descr="Hard to track sto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110" y="2526030"/>
            <a:ext cx="297180" cy="2971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3317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Hard to track stock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Quantities and expiry dates are checked by hand.</a:t>
            </a:r>
            <a:endParaRPr lang="en-US" sz="1600" dirty="0"/>
          </a:p>
        </p:txBody>
      </p:sp>
      <p:sp>
        <p:nvSpPr>
          <p:cNvPr id="10" name="No alternatives icon circle"/>
          <p:cNvSpPr/>
          <p:nvPr/>
        </p:nvSpPr>
        <p:spPr>
          <a:xfrm>
            <a:off x="731520" y="3429000"/>
            <a:ext cx="594360" cy="594360"/>
          </a:xfrm>
          <a:prstGeom prst="ellips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</p:sp>
      <p:pic>
        <p:nvPicPr>
          <p:cNvPr id="11" name="No alternatives icon" descr="No alternative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3577590"/>
            <a:ext cx="297180" cy="2971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508760" y="33832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No alternatives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Users do not know what else is available.</a:t>
            </a:r>
            <a:endParaRPr lang="en-US" sz="1600" dirty="0"/>
          </a:p>
        </p:txBody>
      </p:sp>
      <p:sp>
        <p:nvSpPr>
          <p:cNvPr id="13" name="solution card"/>
          <p:cNvSpPr/>
          <p:nvPr/>
        </p:nvSpPr>
        <p:spPr>
          <a:xfrm>
            <a:off x="5303520" y="1097280"/>
            <a:ext cx="3383280" cy="3474720"/>
          </a:xfrm>
          <a:prstGeom prst="roundRect">
            <a:avLst>
              <a:gd name="adj" fmla="val 3243"/>
            </a:avLst>
          </a:prstGeom>
          <a:solidFill>
            <a:srgbClr val="1478E0"/>
          </a:solidFill>
          <a:ln w="12700">
            <a:solidFill>
              <a:srgbClr val="1478E0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557784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5577840" y="178308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One central platform for typo-tolerant search, substitute suggestions, live stock and expiry alerts, order history and admin analytics.</a:t>
            </a:r>
            <a:endParaRPr lang="en-US" sz="1400" dirty="0"/>
          </a:p>
        </p:txBody>
      </p:sp>
      <p:sp>
        <p:nvSpPr>
          <p:cNvPr id="16" name="check icon circle"/>
          <p:cNvSpPr/>
          <p:nvPr/>
        </p:nvSpPr>
        <p:spPr>
          <a:xfrm>
            <a:off x="5577840" y="384048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check icon" descr="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3570" y="3966210"/>
            <a:ext cx="251460" cy="2514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Functionalities</a:t>
            </a:r>
            <a:endParaRPr lang="en-US" sz="3200" dirty="0"/>
          </a:p>
        </p:txBody>
      </p:sp>
      <p:sp>
        <p:nvSpPr>
          <p:cNvPr id="3" name="Customer Portal card"/>
          <p:cNvSpPr/>
          <p:nvPr/>
        </p:nvSpPr>
        <p:spPr>
          <a:xfrm>
            <a:off x="457200" y="109728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4" name="Customer Portal icon circle"/>
          <p:cNvSpPr/>
          <p:nvPr/>
        </p:nvSpPr>
        <p:spPr>
          <a:xfrm>
            <a:off x="685800" y="1280160"/>
            <a:ext cx="502920" cy="502920"/>
          </a:xfrm>
          <a:prstGeom prst="ellipse">
            <a:avLst/>
          </a:prstGeom>
          <a:solidFill>
            <a:srgbClr val="1478E0"/>
          </a:solidFill>
          <a:ln w="12700">
            <a:solidFill>
              <a:srgbClr val="1478E0"/>
            </a:solidFill>
            <a:prstDash val="solid"/>
          </a:ln>
        </p:spPr>
      </p:sp>
      <p:pic>
        <p:nvPicPr>
          <p:cNvPr id="5" name="Customer Portal icon" descr="Customer Portal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4058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80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Portal</a:t>
            </a:r>
            <a:endParaRPr lang="en-US" sz="2000" dirty="0"/>
          </a:p>
        </p:txBody>
      </p:sp>
      <p:pic>
        <p:nvPicPr>
          <p:cNvPr id="7" name="Customer Portal item icon 1" descr="Search by medicine, maker or categ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237744" cy="2377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196596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Search by medicine, maker or category</a:t>
            </a:r>
            <a:endParaRPr lang="en-US" sz="1400" dirty="0"/>
          </a:p>
        </p:txBody>
      </p:sp>
      <p:pic>
        <p:nvPicPr>
          <p:cNvPr id="9" name="Customer Portal item icon 2" descr="Filter by category, sort by price, stock or expir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78608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143000" y="248716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Filter by category, sort by price, stock or expiry</a:t>
            </a:r>
            <a:endParaRPr lang="en-US" sz="1400" dirty="0"/>
          </a:p>
        </p:txBody>
      </p:sp>
      <p:pic>
        <p:nvPicPr>
          <p:cNvPr id="11" name="Customer Portal item icon 3" descr="See alternative medicin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99816"/>
            <a:ext cx="237744" cy="23774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43000" y="300837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See alternative medicines</a:t>
            </a:r>
            <a:endParaRPr lang="en-US" sz="1400" dirty="0"/>
          </a:p>
        </p:txBody>
      </p:sp>
      <p:pic>
        <p:nvPicPr>
          <p:cNvPr id="13" name="Customer Portal item icon 4" descr="Save favourite medicin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621024"/>
            <a:ext cx="237744" cy="237744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143000" y="352958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Save favourite medicines</a:t>
            </a:r>
            <a:endParaRPr lang="en-US" sz="1400" dirty="0"/>
          </a:p>
        </p:txBody>
      </p:sp>
      <p:pic>
        <p:nvPicPr>
          <p:cNvPr id="15" name="Customer Portal item icon 5" descr="Buy and view order receipt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142232"/>
            <a:ext cx="237744" cy="237744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143000" y="405079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Buy and view order receipts</a:t>
            </a:r>
            <a:endParaRPr lang="en-US" sz="1400" dirty="0"/>
          </a:p>
        </p:txBody>
      </p:sp>
      <p:sp>
        <p:nvSpPr>
          <p:cNvPr id="17" name="Admin Control Room card"/>
          <p:cNvSpPr/>
          <p:nvPr/>
        </p:nvSpPr>
        <p:spPr>
          <a:xfrm>
            <a:off x="4663440" y="109728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8" name="Admin Control Room icon circle"/>
          <p:cNvSpPr/>
          <p:nvPr/>
        </p:nvSpPr>
        <p:spPr>
          <a:xfrm>
            <a:off x="4892040" y="1280160"/>
            <a:ext cx="502920" cy="502920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pic>
        <p:nvPicPr>
          <p:cNvPr id="19" name="Admin Control Room icon" descr="Admin Control Room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7770" y="1405890"/>
            <a:ext cx="251460" cy="25146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5532120" y="1280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Control Room</a:t>
            </a:r>
            <a:endParaRPr lang="en-US" sz="2000" dirty="0"/>
          </a:p>
        </p:txBody>
      </p:sp>
      <p:pic>
        <p:nvPicPr>
          <p:cNvPr id="21" name="Admin Control Room item icon 1" descr="Stock, expiry and revenue KPI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057400"/>
            <a:ext cx="237744" cy="237744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5349240" y="196596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Stock, expiry and revenue KPIs</a:t>
            </a:r>
            <a:endParaRPr lang="en-US" sz="1400" dirty="0"/>
          </a:p>
        </p:txBody>
      </p:sp>
      <p:pic>
        <p:nvPicPr>
          <p:cNvPr id="23" name="Admin Control Room item icon 2" descr="Live inventory table with filteri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2578608"/>
            <a:ext cx="237744" cy="237744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5349240" y="248716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Live inventory table with filtering</a:t>
            </a:r>
            <a:endParaRPr lang="en-US" sz="1400" dirty="0"/>
          </a:p>
        </p:txBody>
      </p:sp>
      <p:pic>
        <p:nvPicPr>
          <p:cNvPr id="25" name="Admin Control Room item icon 3" descr="Add and delete medicines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099816"/>
            <a:ext cx="237744" cy="237744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5349240" y="300837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Add and delete medicines</a:t>
            </a:r>
            <a:endParaRPr lang="en-US" sz="1400" dirty="0"/>
          </a:p>
        </p:txBody>
      </p:sp>
      <p:pic>
        <p:nvPicPr>
          <p:cNvPr id="27" name="Admin Control Room item icon 4" descr="Low-stock and expiry alerts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7760" y="3621024"/>
            <a:ext cx="237744" cy="237744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49240" y="3529584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Low-stock and expiry alerts</a:t>
            </a:r>
            <a:endParaRPr lang="en-US" sz="1400" dirty="0"/>
          </a:p>
        </p:txBody>
      </p:sp>
      <p:pic>
        <p:nvPicPr>
          <p:cNvPr id="29" name="Admin Control Room item icon 5" descr="Sales by category chart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0" y="4142232"/>
            <a:ext cx="237744" cy="237744"/>
          </a:xfrm>
          <a:prstGeom prst="rect">
            <a:avLst/>
          </a:prstGeom>
        </p:spPr>
      </p:pic>
      <p:sp>
        <p:nvSpPr>
          <p:cNvPr id="30" name="Text 16"/>
          <p:cNvSpPr txBox="1"/>
          <p:nvPr/>
        </p:nvSpPr>
        <p:spPr>
          <a:xfrm>
            <a:off x="5349240" y="4050792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Sales by category chart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Used</a:t>
            </a:r>
            <a:endParaRPr lang="en-US" sz="3200" dirty="0"/>
          </a:p>
        </p:txBody>
      </p:sp>
      <p:sp>
        <p:nvSpPr>
          <p:cNvPr id="3" name="KMP card"/>
          <p:cNvSpPr/>
          <p:nvPr/>
        </p:nvSpPr>
        <p:spPr>
          <a:xfrm>
            <a:off x="457200" y="109728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FB67C"/>
                </a:solidFill>
              </a:rPr>
              <a:t>MODULE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0195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</a:rPr>
              <a:t>Finds typed text inside medicine names in linear time.</a:t>
            </a:r>
            <a:endParaRPr lang="en-US" sz="1300" dirty="0"/>
          </a:p>
        </p:txBody>
      </p:sp>
      <p:sp>
        <p:nvSpPr>
          <p:cNvPr id="7" name="Rabin-Karp card"/>
          <p:cNvSpPr/>
          <p:nvPr/>
        </p:nvSpPr>
        <p:spPr>
          <a:xfrm>
            <a:off x="3246120" y="109728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1234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FB67C"/>
                </a:solidFill>
              </a:rPr>
              <a:t>MODULE 2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481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Rabin-Karp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90195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</a:rPr>
              <a:t>Rolling hash matches manufacturers and categories.</a:t>
            </a:r>
            <a:endParaRPr lang="en-US" sz="1300" dirty="0"/>
          </a:p>
        </p:txBody>
      </p:sp>
      <p:sp>
        <p:nvSpPr>
          <p:cNvPr id="11" name="Suffix Array card"/>
          <p:cNvSpPr/>
          <p:nvPr/>
        </p:nvSpPr>
        <p:spPr>
          <a:xfrm>
            <a:off x="6035040" y="109728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217920" y="1234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FB67C"/>
                </a:solidFill>
              </a:rPr>
              <a:t>MODULE 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481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Suffix Array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90195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</a:rPr>
              <a:t>Instant autocomplete while typing.</a:t>
            </a:r>
            <a:endParaRPr lang="en-US" sz="1300" dirty="0"/>
          </a:p>
        </p:txBody>
      </p:sp>
      <p:sp>
        <p:nvSpPr>
          <p:cNvPr id="15" name="Edit Distance card"/>
          <p:cNvSpPr/>
          <p:nvPr/>
        </p:nvSpPr>
        <p:spPr>
          <a:xfrm>
            <a:off x="457200" y="288036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3017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FB67C"/>
                </a:solidFill>
              </a:rPr>
              <a:t>MODULE 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2644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 Distance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68503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</a:rPr>
              <a:t>Dynamic programming fixes spelling mistakes.</a:t>
            </a:r>
            <a:endParaRPr lang="en-US" sz="1300" dirty="0"/>
          </a:p>
        </p:txBody>
      </p:sp>
      <p:sp>
        <p:nvSpPr>
          <p:cNvPr id="19" name="Miller-Rabin card"/>
          <p:cNvSpPr/>
          <p:nvPr/>
        </p:nvSpPr>
        <p:spPr>
          <a:xfrm>
            <a:off x="3246120" y="288036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429000" y="3017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FB67C"/>
                </a:solidFill>
              </a:rPr>
              <a:t>MODULE 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429000" y="32644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Miller-Rabin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429000" y="368503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</a:rPr>
              <a:t>Every receipt number is a verified prime.</a:t>
            </a:r>
            <a:endParaRPr lang="en-US" sz="1300" dirty="0"/>
          </a:p>
        </p:txBody>
      </p:sp>
      <p:sp>
        <p:nvSpPr>
          <p:cNvPr id="23" name="Reservoir Sampling card"/>
          <p:cNvSpPr/>
          <p:nvPr/>
        </p:nvSpPr>
        <p:spPr>
          <a:xfrm>
            <a:off x="6035040" y="288036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217920" y="3017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FB67C"/>
                </a:solidFill>
              </a:rPr>
              <a:t>MODULE 6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32644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Reservoir Sampling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68503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2545"/>
                </a:solidFill>
              </a:rPr>
              <a:t>Fair random pick of featured medicines.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Smart Search Works</a:t>
            </a:r>
            <a:endParaRPr lang="en-US" sz="3200" dirty="0"/>
          </a:p>
        </p:txBody>
      </p:sp>
      <p:sp>
        <p:nvSpPr>
          <p:cNvPr id="3" name="User types card"/>
          <p:cNvSpPr/>
          <p:nvPr/>
        </p:nvSpPr>
        <p:spPr>
          <a:xfrm>
            <a:off x="457200" y="128016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4" name="User types icon circle"/>
          <p:cNvSpPr/>
          <p:nvPr/>
        </p:nvSpPr>
        <p:spPr>
          <a:xfrm>
            <a:off x="1097280" y="1463040"/>
            <a:ext cx="594360" cy="594360"/>
          </a:xfrm>
          <a:prstGeom prst="ellipse">
            <a:avLst/>
          </a:prstGeom>
          <a:solidFill>
            <a:srgbClr val="1478E0"/>
          </a:solidFill>
          <a:ln w="12700">
            <a:solidFill>
              <a:srgbClr val="1478E0"/>
            </a:solidFill>
            <a:prstDash val="solid"/>
          </a:ln>
        </p:spPr>
      </p:sp>
      <p:pic>
        <p:nvPicPr>
          <p:cNvPr id="5" name="User types icon" descr="User type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5870" y="161163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User types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5603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545"/>
                </a:solidFill>
              </a:rPr>
              <a:t>Suffix array suggests names as you type</a:t>
            </a:r>
            <a:endParaRPr lang="en-US" sz="1300" dirty="0"/>
          </a:p>
        </p:txBody>
      </p:sp>
      <p:pic>
        <p:nvPicPr>
          <p:cNvPr id="8" name="arrow 1" descr="next ste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2331720"/>
            <a:ext cx="182880" cy="182880"/>
          </a:xfrm>
          <a:prstGeom prst="rect">
            <a:avLst/>
          </a:prstGeom>
        </p:spPr>
      </p:pic>
      <p:sp>
        <p:nvSpPr>
          <p:cNvPr id="9" name="KMP match card"/>
          <p:cNvSpPr/>
          <p:nvPr/>
        </p:nvSpPr>
        <p:spPr>
          <a:xfrm>
            <a:off x="2560320" y="128016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0" name="KMP match icon circle"/>
          <p:cNvSpPr/>
          <p:nvPr/>
        </p:nvSpPr>
        <p:spPr>
          <a:xfrm>
            <a:off x="3200400" y="1463040"/>
            <a:ext cx="594360" cy="594360"/>
          </a:xfrm>
          <a:prstGeom prst="ellipse">
            <a:avLst/>
          </a:prstGeom>
          <a:solidFill>
            <a:srgbClr val="1478E0"/>
          </a:solidFill>
          <a:ln w="12700">
            <a:solidFill>
              <a:srgbClr val="1478E0"/>
            </a:solidFill>
            <a:prstDash val="solid"/>
          </a:ln>
        </p:spPr>
      </p:sp>
      <p:pic>
        <p:nvPicPr>
          <p:cNvPr id="11" name="KMP match icon" descr="KMP match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990" y="1611630"/>
            <a:ext cx="297180" cy="2971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69748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KMP match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2697480" y="25603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545"/>
                </a:solidFill>
              </a:rPr>
              <a:t>Looks for the text inside every medicine name</a:t>
            </a:r>
            <a:endParaRPr lang="en-US" sz="1300" dirty="0"/>
          </a:p>
        </p:txBody>
      </p:sp>
      <p:pic>
        <p:nvPicPr>
          <p:cNvPr id="14" name="arrow 2" descr="next ste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2331720"/>
            <a:ext cx="182880" cy="182880"/>
          </a:xfrm>
          <a:prstGeom prst="rect">
            <a:avLst/>
          </a:prstGeom>
        </p:spPr>
      </p:pic>
      <p:sp>
        <p:nvSpPr>
          <p:cNvPr id="15" name="Rabin-Karp card"/>
          <p:cNvSpPr/>
          <p:nvPr/>
        </p:nvSpPr>
        <p:spPr>
          <a:xfrm>
            <a:off x="4663440" y="128016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6" name="Rabin-Karp icon circle"/>
          <p:cNvSpPr/>
          <p:nvPr/>
        </p:nvSpPr>
        <p:spPr>
          <a:xfrm>
            <a:off x="5303520" y="1463040"/>
            <a:ext cx="594360" cy="594360"/>
          </a:xfrm>
          <a:prstGeom prst="ellipse">
            <a:avLst/>
          </a:prstGeom>
          <a:solidFill>
            <a:srgbClr val="1478E0"/>
          </a:solidFill>
          <a:ln w="12700">
            <a:solidFill>
              <a:srgbClr val="1478E0"/>
            </a:solidFill>
            <a:prstDash val="solid"/>
          </a:ln>
        </p:spPr>
      </p:sp>
      <p:pic>
        <p:nvPicPr>
          <p:cNvPr id="17" name="Rabin-Karp icon" descr="Rabin-Karp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2110" y="1611630"/>
            <a:ext cx="297180" cy="29718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80060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Rabin-Karp</a:t>
            </a:r>
            <a:endParaRPr lang="en-US" sz="1600" dirty="0"/>
          </a:p>
        </p:txBody>
      </p:sp>
      <p:sp>
        <p:nvSpPr>
          <p:cNvPr id="19" name="Text 12"/>
          <p:cNvSpPr txBox="1"/>
          <p:nvPr/>
        </p:nvSpPr>
        <p:spPr>
          <a:xfrm>
            <a:off x="4800600" y="25603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545"/>
                </a:solidFill>
              </a:rPr>
              <a:t>Checks manufacturer and category if no name matches</a:t>
            </a:r>
            <a:endParaRPr lang="en-US" sz="1300" dirty="0"/>
          </a:p>
        </p:txBody>
      </p:sp>
      <p:pic>
        <p:nvPicPr>
          <p:cNvPr id="20" name="arrow 3" descr="next ste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2331720"/>
            <a:ext cx="182880" cy="182880"/>
          </a:xfrm>
          <a:prstGeom prst="rect">
            <a:avLst/>
          </a:prstGeom>
        </p:spPr>
      </p:pic>
      <p:sp>
        <p:nvSpPr>
          <p:cNvPr id="21" name="Edit distance card"/>
          <p:cNvSpPr/>
          <p:nvPr/>
        </p:nvSpPr>
        <p:spPr>
          <a:xfrm>
            <a:off x="6766560" y="1280160"/>
            <a:ext cx="1874520" cy="246888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2" name="Edit distance icon circle"/>
          <p:cNvSpPr/>
          <p:nvPr/>
        </p:nvSpPr>
        <p:spPr>
          <a:xfrm>
            <a:off x="7406640" y="1463040"/>
            <a:ext cx="594360" cy="594360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pic>
        <p:nvPicPr>
          <p:cNvPr id="23" name="Edit distance icon" descr="Edit distance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5230" y="1611630"/>
            <a:ext cx="297180" cy="297180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903720" y="21945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</a:rPr>
              <a:t>Edit distance</a:t>
            </a:r>
            <a:endParaRPr lang="en-US" sz="1600" dirty="0"/>
          </a:p>
        </p:txBody>
      </p:sp>
      <p:sp>
        <p:nvSpPr>
          <p:cNvPr id="25" name="Text 16"/>
          <p:cNvSpPr txBox="1"/>
          <p:nvPr/>
        </p:nvSpPr>
        <p:spPr>
          <a:xfrm>
            <a:off x="6903720" y="2560320"/>
            <a:ext cx="1600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2545"/>
                </a:solidFill>
              </a:rPr>
              <a:t>Still nothing? Shows Did you mean suggestions</a:t>
            </a:r>
            <a:endParaRPr lang="en-US" sz="1300" dirty="0"/>
          </a:p>
        </p:txBody>
      </p:sp>
      <p:sp>
        <p:nvSpPr>
          <p:cNvPr id="26" name="note card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1478E0"/>
          </a:solidFill>
          <a:ln w="12700">
            <a:solidFill>
              <a:srgbClr val="1478E0"/>
            </a:solidFill>
            <a:prstDash val="solid"/>
          </a:ln>
        </p:spPr>
      </p:sp>
      <p:sp>
        <p:nvSpPr>
          <p:cNvPr id="27" name="Text 18"/>
          <p:cNvSpPr txBox="1"/>
          <p:nvPr/>
        </p:nvSpPr>
        <p:spPr>
          <a:xfrm>
            <a:off x="731520" y="3931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Example: typing Crocn 500 still finds Crocin 500 using edit distance.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</a:t>
            </a:r>
            <a:endParaRPr lang="en-US" sz="3200" dirty="0"/>
          </a:p>
        </p:txBody>
      </p:sp>
      <p:sp>
        <p:nvSpPr>
          <p:cNvPr id="3" name="HTML5 card"/>
          <p:cNvSpPr/>
          <p:nvPr/>
        </p:nvSpPr>
        <p:spPr>
          <a:xfrm>
            <a:off x="457200" y="109728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4" name="HTML5 icon circle"/>
          <p:cNvSpPr/>
          <p:nvPr/>
        </p:nvSpPr>
        <p:spPr>
          <a:xfrm>
            <a:off x="640080" y="1325880"/>
            <a:ext cx="594360" cy="594360"/>
          </a:xfrm>
          <a:prstGeom prst="ellipse">
            <a:avLst/>
          </a:prstGeom>
          <a:solidFill>
            <a:srgbClr val="1478E0"/>
          </a:solidFill>
          <a:ln w="12700">
            <a:solidFill>
              <a:srgbClr val="1478E0"/>
            </a:solidFill>
            <a:prstDash val="solid"/>
          </a:ln>
        </p:spPr>
      </p:sp>
      <p:pic>
        <p:nvPicPr>
          <p:cNvPr id="5" name="HTML5 icon" descr="HTML5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47447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258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Application structure</a:t>
            </a:r>
            <a:endParaRPr lang="en-US" sz="1400" dirty="0"/>
          </a:p>
        </p:txBody>
      </p:sp>
      <p:sp>
        <p:nvSpPr>
          <p:cNvPr id="8" name="CSS3 card"/>
          <p:cNvSpPr/>
          <p:nvPr/>
        </p:nvSpPr>
        <p:spPr>
          <a:xfrm>
            <a:off x="3246120" y="109728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9" name="CSS3 icon circle"/>
          <p:cNvSpPr/>
          <p:nvPr/>
        </p:nvSpPr>
        <p:spPr>
          <a:xfrm>
            <a:off x="3429000" y="1325880"/>
            <a:ext cx="594360" cy="594360"/>
          </a:xfrm>
          <a:prstGeom prst="ellipse">
            <a:avLst/>
          </a:prstGeom>
          <a:solidFill>
            <a:srgbClr val="1478E0"/>
          </a:solidFill>
          <a:ln w="12700">
            <a:solidFill>
              <a:srgbClr val="1478E0"/>
            </a:solidFill>
            <a:prstDash val="solid"/>
          </a:ln>
        </p:spPr>
      </p:sp>
      <p:pic>
        <p:nvPicPr>
          <p:cNvPr id="10" name="CSS3 icon" descr="CSS3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590" y="147447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06240" y="13258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Responsive layout, dark mode</a:t>
            </a:r>
            <a:endParaRPr lang="en-US" sz="1400" dirty="0"/>
          </a:p>
        </p:txBody>
      </p:sp>
      <p:sp>
        <p:nvSpPr>
          <p:cNvPr id="13" name="JavaScript card"/>
          <p:cNvSpPr/>
          <p:nvPr/>
        </p:nvSpPr>
        <p:spPr>
          <a:xfrm>
            <a:off x="6035040" y="109728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4" name="JavaScript icon circle"/>
          <p:cNvSpPr/>
          <p:nvPr/>
        </p:nvSpPr>
        <p:spPr>
          <a:xfrm>
            <a:off x="6217920" y="1325880"/>
            <a:ext cx="594360" cy="594360"/>
          </a:xfrm>
          <a:prstGeom prst="ellipse">
            <a:avLst/>
          </a:prstGeom>
          <a:solidFill>
            <a:srgbClr val="1478E0"/>
          </a:solidFill>
          <a:ln w="12700">
            <a:solidFill>
              <a:srgbClr val="1478E0"/>
            </a:solidFill>
            <a:prstDash val="solid"/>
          </a:ln>
        </p:spPr>
      </p:sp>
      <p:pic>
        <p:nvPicPr>
          <p:cNvPr id="15" name="JavaScript icon" descr="JavaScrip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510" y="147447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95160" y="13258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App logic and algorithms</a:t>
            </a:r>
            <a:endParaRPr lang="en-US" sz="1400" dirty="0"/>
          </a:p>
        </p:txBody>
      </p:sp>
      <p:sp>
        <p:nvSpPr>
          <p:cNvPr id="18" name="localStorage card"/>
          <p:cNvSpPr/>
          <p:nvPr/>
        </p:nvSpPr>
        <p:spPr>
          <a:xfrm>
            <a:off x="457200" y="288036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9" name="localStorage icon circle"/>
          <p:cNvSpPr/>
          <p:nvPr/>
        </p:nvSpPr>
        <p:spPr>
          <a:xfrm>
            <a:off x="640080" y="3108960"/>
            <a:ext cx="594360" cy="594360"/>
          </a:xfrm>
          <a:prstGeom prst="ellipse">
            <a:avLst/>
          </a:prstGeom>
          <a:solidFill>
            <a:srgbClr val="1478E0"/>
          </a:solidFill>
          <a:ln w="12700">
            <a:solidFill>
              <a:srgbClr val="1478E0"/>
            </a:solidFill>
            <a:prstDash val="solid"/>
          </a:ln>
        </p:spPr>
      </p:sp>
      <p:pic>
        <p:nvPicPr>
          <p:cNvPr id="20" name="localStorage icon" descr="localStorag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70" y="325755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17320" y="31089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localStorage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Browser data persistence</a:t>
            </a:r>
            <a:endParaRPr lang="en-US" sz="1400" dirty="0"/>
          </a:p>
        </p:txBody>
      </p:sp>
      <p:sp>
        <p:nvSpPr>
          <p:cNvPr id="23" name="VS Code card"/>
          <p:cNvSpPr/>
          <p:nvPr/>
        </p:nvSpPr>
        <p:spPr>
          <a:xfrm>
            <a:off x="3246120" y="288036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4" name="VS Code icon circle"/>
          <p:cNvSpPr/>
          <p:nvPr/>
        </p:nvSpPr>
        <p:spPr>
          <a:xfrm>
            <a:off x="3429000" y="3108960"/>
            <a:ext cx="594360" cy="594360"/>
          </a:xfrm>
          <a:prstGeom prst="ellipse">
            <a:avLst/>
          </a:prstGeom>
          <a:solidFill>
            <a:srgbClr val="1478E0"/>
          </a:solidFill>
          <a:ln w="12700">
            <a:solidFill>
              <a:srgbClr val="1478E0"/>
            </a:solidFill>
            <a:prstDash val="solid"/>
          </a:ln>
        </p:spPr>
      </p:sp>
      <p:pic>
        <p:nvPicPr>
          <p:cNvPr id="25" name="VS Code icon" descr="VS Cod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7590" y="3257550"/>
            <a:ext cx="297180" cy="2971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206240" y="31089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Editor with Live Server</a:t>
            </a:r>
            <a:endParaRPr lang="en-US" sz="1400" dirty="0"/>
          </a:p>
        </p:txBody>
      </p:sp>
      <p:sp>
        <p:nvSpPr>
          <p:cNvPr id="28" name="Responsive UI card"/>
          <p:cNvSpPr/>
          <p:nvPr/>
        </p:nvSpPr>
        <p:spPr>
          <a:xfrm>
            <a:off x="6035040" y="2880360"/>
            <a:ext cx="26517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29" name="Responsive UI icon circle"/>
          <p:cNvSpPr/>
          <p:nvPr/>
        </p:nvSpPr>
        <p:spPr>
          <a:xfrm>
            <a:off x="6217920" y="3108960"/>
            <a:ext cx="594360" cy="594360"/>
          </a:xfrm>
          <a:prstGeom prst="ellipse">
            <a:avLst/>
          </a:prstGeom>
          <a:solidFill>
            <a:srgbClr val="1478E0"/>
          </a:solidFill>
          <a:ln w="12700">
            <a:solidFill>
              <a:srgbClr val="1478E0"/>
            </a:solidFill>
            <a:prstDash val="solid"/>
          </a:ln>
        </p:spPr>
      </p:sp>
      <p:pic>
        <p:nvPicPr>
          <p:cNvPr id="30" name="Responsive UI icon" descr="Responsive UI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6510" y="3257550"/>
            <a:ext cx="297180" cy="2971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95160" y="31089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UI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Works on phone and desktop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Design</a:t>
            </a:r>
            <a:endParaRPr lang="en-US" sz="3200" dirty="0"/>
          </a:p>
        </p:txBody>
      </p:sp>
      <p:sp>
        <p:nvSpPr>
          <p:cNvPr id="3" name="Interface layer card"/>
          <p:cNvSpPr/>
          <p:nvPr/>
        </p:nvSpPr>
        <p:spPr>
          <a:xfrm>
            <a:off x="457200" y="118872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4" name="Interface icon circle"/>
          <p:cNvSpPr/>
          <p:nvPr/>
        </p:nvSpPr>
        <p:spPr>
          <a:xfrm>
            <a:off x="640080" y="1371600"/>
            <a:ext cx="594360" cy="594360"/>
          </a:xfrm>
          <a:prstGeom prst="ellipse">
            <a:avLst/>
          </a:prstGeom>
          <a:solidFill>
            <a:srgbClr val="1478E0"/>
          </a:solidFill>
          <a:ln w="12700">
            <a:solidFill>
              <a:srgbClr val="1478E0"/>
            </a:solidFill>
            <a:prstDash val="solid"/>
          </a:ln>
        </p:spPr>
      </p:sp>
      <p:pic>
        <p:nvPicPr>
          <p:cNvPr id="5" name="Interface icon" descr="Interfac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52019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3716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78E0"/>
                </a:solidFill>
              </a:rPr>
              <a:t>index.html, style.css, app.js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834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Customer portal and admin control room</a:t>
            </a:r>
            <a:endParaRPr lang="en-US" sz="1400" dirty="0"/>
          </a:p>
        </p:txBody>
      </p:sp>
      <p:sp>
        <p:nvSpPr>
          <p:cNvPr id="9" name="Logic layer card"/>
          <p:cNvSpPr/>
          <p:nvPr/>
        </p:nvSpPr>
        <p:spPr>
          <a:xfrm>
            <a:off x="3246120" y="118872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0" name="Logic icon circle"/>
          <p:cNvSpPr/>
          <p:nvPr/>
        </p:nvSpPr>
        <p:spPr>
          <a:xfrm>
            <a:off x="3429000" y="1371600"/>
            <a:ext cx="594360" cy="594360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pic>
        <p:nvPicPr>
          <p:cNvPr id="11" name="Logic icon" descr="Logic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590" y="152019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06240" y="13716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78E0"/>
                </a:solidFill>
              </a:rPr>
              <a:t>algorithms.js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2834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Search, autocomplete, hashing, receipts</a:t>
            </a:r>
            <a:endParaRPr lang="en-US" sz="1400" dirty="0"/>
          </a:p>
        </p:txBody>
      </p:sp>
      <p:sp>
        <p:nvSpPr>
          <p:cNvPr id="15" name="Data layer card"/>
          <p:cNvSpPr/>
          <p:nvPr/>
        </p:nvSpPr>
        <p:spPr>
          <a:xfrm>
            <a:off x="6035040" y="118872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16" name="Data icon circle"/>
          <p:cNvSpPr/>
          <p:nvPr/>
        </p:nvSpPr>
        <p:spPr>
          <a:xfrm>
            <a:off x="6217920" y="1371600"/>
            <a:ext cx="594360" cy="594360"/>
          </a:xfrm>
          <a:prstGeom prst="ellipse">
            <a:avLst/>
          </a:prstGeom>
          <a:solidFill>
            <a:srgbClr val="1478E0"/>
          </a:solidFill>
          <a:ln w="12700">
            <a:solidFill>
              <a:srgbClr val="1478E0"/>
            </a:solidFill>
            <a:prstDash val="solid"/>
          </a:ln>
        </p:spPr>
      </p:sp>
      <p:pic>
        <p:nvPicPr>
          <p:cNvPr id="17" name="Data icon" descr="Data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510" y="1520190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95160" y="13716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621792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78E0"/>
                </a:solidFill>
              </a:rPr>
              <a:t>data.js and localStorage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28346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18 seed medicines, users, orders, favourites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5"/>
                </a:solidFill>
              </a:rPr>
              <a:t>Passwords are stored as double polynomial hashes. This is a demo-level safeguard only.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3200" dirty="0"/>
          </a:p>
        </p:txBody>
      </p:sp>
      <p:sp>
        <p:nvSpPr>
          <p:cNvPr id="3" name="stat card 1"/>
          <p:cNvSpPr/>
          <p:nvPr/>
        </p:nvSpPr>
        <p:spPr>
          <a:xfrm>
            <a:off x="457200" y="109728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1478E0"/>
          </a:solidFill>
          <a:ln w="12700">
            <a:solidFill>
              <a:srgbClr val="1478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Medicines in demo data</a:t>
            </a:r>
            <a:endParaRPr lang="en-US" sz="1300" dirty="0"/>
          </a:p>
        </p:txBody>
      </p:sp>
      <p:sp>
        <p:nvSpPr>
          <p:cNvPr id="6" name="stat card 2"/>
          <p:cNvSpPr/>
          <p:nvPr/>
        </p:nvSpPr>
        <p:spPr>
          <a:xfrm>
            <a:off x="2560320" y="109728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1478E0"/>
          </a:solidFill>
          <a:ln w="12700">
            <a:solidFill>
              <a:srgbClr val="1478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188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2651760" y="2011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Core algorithms</a:t>
            </a:r>
            <a:endParaRPr lang="en-US" sz="1300" dirty="0"/>
          </a:p>
        </p:txBody>
      </p:sp>
      <p:sp>
        <p:nvSpPr>
          <p:cNvPr id="9" name="stat card 3"/>
          <p:cNvSpPr/>
          <p:nvPr/>
        </p:nvSpPr>
        <p:spPr>
          <a:xfrm>
            <a:off x="4663440" y="109728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1478E0"/>
          </a:solidFill>
          <a:ln w="12700">
            <a:solidFill>
              <a:srgbClr val="1478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188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011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Search modes</a:t>
            </a:r>
            <a:endParaRPr lang="en-US" sz="1300" dirty="0"/>
          </a:p>
        </p:txBody>
      </p:sp>
      <p:sp>
        <p:nvSpPr>
          <p:cNvPr id="12" name="stat card 4"/>
          <p:cNvSpPr/>
          <p:nvPr/>
        </p:nvSpPr>
        <p:spPr>
          <a:xfrm>
            <a:off x="6766560" y="1097280"/>
            <a:ext cx="1920240" cy="1554480"/>
          </a:xfrm>
          <a:prstGeom prst="roundRect">
            <a:avLst>
              <a:gd name="adj" fmla="val 7059"/>
            </a:avLst>
          </a:prstGeom>
          <a:solidFill>
            <a:srgbClr val="1478E0"/>
          </a:solidFill>
          <a:ln w="12700">
            <a:solidFill>
              <a:srgbClr val="1478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1887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011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User roles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0175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Fast, accurate medicine lookup that tolerates spelling mistakes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Clear stock, expiry and revenue view for administrators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Less manual work and better record accuracy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Future Scope</a:t>
            </a:r>
            <a:endParaRPr lang="en-US" sz="3200" dirty="0"/>
          </a:p>
        </p:txBody>
      </p:sp>
      <p:sp>
        <p:nvSpPr>
          <p:cNvPr id="3" name="Current Limitations card"/>
          <p:cNvSpPr/>
          <p:nvPr/>
        </p:nvSpPr>
        <p:spPr>
          <a:xfrm>
            <a:off x="457200" y="1097280"/>
            <a:ext cx="40233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4" name="Current Limitations icon circle"/>
          <p:cNvSpPr/>
          <p:nvPr/>
        </p:nvSpPr>
        <p:spPr>
          <a:xfrm>
            <a:off x="685800" y="1280160"/>
            <a:ext cx="502920" cy="502920"/>
          </a:xfrm>
          <a:prstGeom prst="ellipse">
            <a:avLst/>
          </a:prstGeom>
          <a:solidFill>
            <a:srgbClr val="E5534B"/>
          </a:solidFill>
          <a:ln w="12700">
            <a:solidFill>
              <a:srgbClr val="E5534B"/>
            </a:solidFill>
            <a:prstDash val="solid"/>
          </a:ln>
        </p:spPr>
      </p:sp>
      <p:pic>
        <p:nvPicPr>
          <p:cNvPr id="5" name="Current Limitations icon" descr="Current Limitation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40589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80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031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</a:rPr>
              <a:t>Data lives only in the browser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</a:rPr>
              <a:t>Demo-level password security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</a:rPr>
              <a:t>Alternatives are predefined</a:t>
            </a:r>
            <a:endParaRPr lang="en-US" sz="1600" dirty="0"/>
          </a:p>
        </p:txBody>
      </p:sp>
      <p:sp>
        <p:nvSpPr>
          <p:cNvPr id="8" name="Future Scope card"/>
          <p:cNvSpPr/>
          <p:nvPr/>
        </p:nvSpPr>
        <p:spPr>
          <a:xfrm>
            <a:off x="4663440" y="1097280"/>
            <a:ext cx="40233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2000"/>
              </a:srgbClr>
            </a:outerShdw>
          </a:effectLst>
        </p:spPr>
      </p:sp>
      <p:sp>
        <p:nvSpPr>
          <p:cNvPr id="9" name="Future Scope icon circle"/>
          <p:cNvSpPr/>
          <p:nvPr/>
        </p:nvSpPr>
        <p:spPr>
          <a:xfrm>
            <a:off x="4892040" y="1280160"/>
            <a:ext cx="502920" cy="502920"/>
          </a:xfrm>
          <a:prstGeom prst="ellipse">
            <a:avLst/>
          </a:prstGeom>
          <a:solidFill>
            <a:srgbClr val="2FB67C"/>
          </a:solidFill>
          <a:ln w="12700">
            <a:solidFill>
              <a:srgbClr val="2FB67C"/>
            </a:solidFill>
            <a:prstDash val="solid"/>
          </a:ln>
        </p:spPr>
      </p:sp>
      <p:pic>
        <p:nvPicPr>
          <p:cNvPr id="10" name="Future Scope icon" descr="Future Scop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7770" y="140589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2801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10312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</a:rPr>
              <a:t>Secure backend and database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</a:rPr>
              <a:t>Prescription validation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0B2545"/>
                </a:solidFill>
              </a:rPr>
              <a:t>Automatic reorder and supplier alerts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7BA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circle 1"/>
          <p:cNvSpPr/>
          <p:nvPr/>
        </p:nvSpPr>
        <p:spPr>
          <a:xfrm>
            <a:off x="6035040" y="-1280160"/>
            <a:ext cx="4572000" cy="4572000"/>
          </a:xfrm>
          <a:prstGeom prst="ellipse">
            <a:avLst/>
          </a:prstGeom>
          <a:solidFill>
            <a:srgbClr val="1478E0">
              <a:alpha val="30000"/>
            </a:srgbClr>
          </a:solidFill>
          <a:ln w="12700">
            <a:solidFill>
              <a:srgbClr val="1478E0">
                <a:alpha val="0"/>
              </a:srgbClr>
            </a:solidFill>
            <a:prstDash val="solid"/>
          </a:ln>
        </p:spPr>
      </p:sp>
      <p:sp>
        <p:nvSpPr>
          <p:cNvPr id="3" name="bg circle 2"/>
          <p:cNvSpPr/>
          <p:nvPr/>
        </p:nvSpPr>
        <p:spPr>
          <a:xfrm>
            <a:off x="-1097280" y="3291840"/>
            <a:ext cx="3108960" cy="3108960"/>
          </a:xfrm>
          <a:prstGeom prst="ellipse">
            <a:avLst/>
          </a:prstGeom>
          <a:solidFill>
            <a:srgbClr val="2FB67C">
              <a:alpha val="25000"/>
            </a:srgbClr>
          </a:solidFill>
          <a:ln w="12700">
            <a:solidFill>
              <a:srgbClr val="2FB67C">
                <a:alpha val="0"/>
              </a:srgbClr>
            </a:solidFill>
            <a:prstDash val="solid"/>
          </a:ln>
        </p:spPr>
      </p:sp>
      <p:sp>
        <p:nvSpPr>
          <p:cNvPr id="4" name="pill icon circle"/>
          <p:cNvSpPr/>
          <p:nvPr/>
        </p:nvSpPr>
        <p:spPr>
          <a:xfrm>
            <a:off x="4114800" y="1005840"/>
            <a:ext cx="914400" cy="914400"/>
          </a:xfrm>
          <a:prstGeom prst="ellipse">
            <a:avLst/>
          </a:prstGeom>
          <a:solidFill>
            <a:srgbClr val="1478E0"/>
          </a:solidFill>
          <a:ln w="12700">
            <a:solidFill>
              <a:srgbClr val="1478E0"/>
            </a:solidFill>
            <a:prstDash val="solid"/>
          </a:ln>
        </p:spPr>
      </p:sp>
      <p:pic>
        <p:nvPicPr>
          <p:cNvPr id="5" name="pill icon" descr="pill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194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EC5FF"/>
                </a:solidFill>
              </a:rPr>
              <a:t>Questions are welcome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harmaSearch">
  <a:themeElements>
    <a:clrScheme name="PharmaSearch">
      <a:dk1>
        <a:srgbClr val="0B2545"/>
      </a:dk1>
      <a:lt1>
        <a:srgbClr val="FFFFFF"/>
      </a:lt1>
      <a:dk2>
        <a:srgbClr val="1478E0"/>
      </a:dk2>
      <a:lt2>
        <a:srgbClr val="EAF4FF"/>
      </a:lt2>
      <a:accent1>
        <a:srgbClr val="1478E0"/>
      </a:accent1>
      <a:accent2>
        <a:srgbClr val="2FB67C"/>
      </a:accent2>
      <a:accent3>
        <a:srgbClr val="0B2545"/>
      </a:accent3>
      <a:accent4>
        <a:srgbClr val="8EC5FF"/>
      </a:accent4>
      <a:accent5>
        <a:srgbClr val="F4B942"/>
      </a:accent5>
      <a:accent6>
        <a:srgbClr val="E5534B"/>
      </a:accent6>
      <a:hlink>
        <a:srgbClr val="1478E0"/>
      </a:hlink>
      <a:folHlink>
        <a:srgbClr val="0B2545"/>
      </a:folHlink>
    </a:clrScheme>
    <a:fontScheme name="PharmaSear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PharmaSearch - Smart Pharmacy Search and Inventory Management</dc:title>
  <dc:subject>PptxGenJS Presentation</dc:subject>
  <dc:creator>PptxGenJS</dc:creator>
  <cp:lastModifiedBy>PptxGenJS</cp:lastModifiedBy>
  <cp:revision>1</cp:revision>
  <dcterms:created xsi:type="dcterms:W3CDTF">2026-10-07T14:17:37Z</dcterms:created>
  <dcterms:modified xsi:type="dcterms:W3CDTF">2026-10-07T14:17:37Z</dcterms:modified>
</cp:coreProperties>
</file>